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75E"/>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11064240" cy="1188720"/>
          </a:xfrm>
          <a:prstGeom prst="rect">
            <a:avLst/>
          </a:prstGeom>
          <a:noFill/>
        </p:spPr>
        <p:txBody>
          <a:bodyPr wrap="square">
            <a:spAutoFit/>
          </a:bodyPr>
          <a:lstStyle/>
          <a:p>
            <a:pPr algn="ctr"/>
            <a:r>
              <a:rPr sz="5200" b="1" i="0">
                <a:solidFill>
                  <a:srgbClr val="FFFFFF"/>
                </a:solidFill>
              </a:rPr>
              <a:t>HTSplotter</a:t>
            </a:r>
          </a:p>
        </p:txBody>
      </p:sp>
      <p:sp>
        <p:nvSpPr>
          <p:cNvPr id="4" name="TextBox 3"/>
          <p:cNvSpPr txBox="1"/>
          <p:nvPr/>
        </p:nvSpPr>
        <p:spPr>
          <a:xfrm>
            <a:off x="548640" y="1645920"/>
            <a:ext cx="11064240" cy="502920"/>
          </a:xfrm>
          <a:prstGeom prst="rect">
            <a:avLst/>
          </a:prstGeom>
          <a:noFill/>
        </p:spPr>
        <p:txBody>
          <a:bodyPr wrap="square">
            <a:spAutoFit/>
          </a:bodyPr>
          <a:lstStyle/>
          <a:p>
            <a:pPr algn="ctr"/>
            <a:r>
              <a:rPr sz="2400" b="0" i="0">
                <a:solidFill>
                  <a:srgbClr val="BDD7EE"/>
                </a:solidFill>
              </a:rPr>
              <a:t>High-Throughput Screening Analysis</a:t>
            </a:r>
          </a:p>
        </p:txBody>
      </p:sp>
      <p:sp>
        <p:nvSpPr>
          <p:cNvPr id="5" name="Rectangle 4"/>
          <p:cNvSpPr/>
          <p:nvPr/>
        </p:nvSpPr>
        <p:spPr>
          <a:xfrm>
            <a:off x="1828800" y="2286000"/>
            <a:ext cx="8531352"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377440"/>
            <a:ext cx="11064240" cy="365760"/>
          </a:xfrm>
          <a:prstGeom prst="rect">
            <a:avLst/>
          </a:prstGeom>
          <a:noFill/>
        </p:spPr>
        <p:txBody>
          <a:bodyPr wrap="square">
            <a:spAutoFit/>
          </a:bodyPr>
          <a:lstStyle/>
          <a:p>
            <a:pPr algn="ctr"/>
            <a:r>
              <a:rPr sz="1500" b="0" i="0">
                <a:solidFill>
                  <a:srgbClr val="88BBE0"/>
                </a:solidFill>
              </a:rPr>
              <a:t>All Example Datasets  ·  MCF7 Cells  ·  Confluency Readout  ·  AI Chat Interface</a:t>
            </a:r>
          </a:p>
        </p:txBody>
      </p:sp>
      <p:sp>
        <p:nvSpPr>
          <p:cNvPr id="7" name="Rectangle 6"/>
          <p:cNvSpPr/>
          <p:nvPr/>
        </p:nvSpPr>
        <p:spPr>
          <a:xfrm>
            <a:off x="411480" y="2880360"/>
            <a:ext cx="6949440" cy="3520440"/>
          </a:xfrm>
          <a:prstGeom prst="rect">
            <a:avLst/>
          </a:prstGeom>
          <a:solidFill>
            <a:srgbClr val="0F2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2880360"/>
            <a:ext cx="64008" cy="35204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971800"/>
            <a:ext cx="6583680" cy="3337560"/>
          </a:xfrm>
          <a:prstGeom prst="rect">
            <a:avLst/>
          </a:prstGeom>
          <a:noFill/>
        </p:spPr>
        <p:txBody>
          <a:bodyPr wrap="square">
            <a:spAutoFit/>
          </a:bodyPr>
          <a:lstStyle/>
          <a:p>
            <a:r>
              <a:rPr sz="1800" b="1">
                <a:solidFill>
                  <a:srgbClr val="BDD7EE"/>
                </a:solidFill>
              </a:rPr>
              <a:t>What is HTSplotter?</a:t>
            </a:r>
          </a:p>
          <a:p>
            <a:pPr algn="l">
              <a:spcBef>
                <a:spcPts val="1000"/>
              </a:spcBef>
            </a:pPr>
            <a:r>
              <a:rPr sz="1200" b="0" i="0">
                <a:solidFill>
                  <a:srgbClr val="FFFFFF"/>
                </a:solidFill>
              </a:rPr>
              <a:t>HTSplotter is an open-source Python tool for end-to-end processing, analysis, and visualisation of chemical and genetic in vitro perturbation screens. It automatically identifies the experiment type, normalises data, fits dose-response curves, calculates IC values, and scores drug synergy.</a:t>
            </a:r>
          </a:p>
          <a:p>
            <a:pPr algn="l">
              <a:spcBef>
                <a:spcPts val="1000"/>
              </a:spcBef>
            </a:pPr>
            <a:r>
              <a:rPr sz="1200" b="0" i="0">
                <a:solidFill>
                  <a:srgbClr val="BDD7EE"/>
                </a:solidFill>
              </a:rPr>
              <a:t>Supports four experiment types:</a:t>
            </a:r>
          </a:p>
          <a:p>
            <a:pPr>
              <a:spcBef>
                <a:spcPts val="300"/>
              </a:spcBef>
            </a:pPr>
            <a:r>
              <a:rPr sz="1100">
                <a:solidFill>
                  <a:srgbClr val="FFFFFF"/>
                </a:solidFill>
              </a:rPr>
              <a:t>     ●  Drug screen  —  IC values, dose-response curves, growth rates</a:t>
            </a:r>
          </a:p>
          <a:p>
            <a:pPr>
              <a:spcBef>
                <a:spcPts val="300"/>
              </a:spcBef>
            </a:pPr>
            <a:r>
              <a:rPr sz="1100">
                <a:solidFill>
                  <a:srgbClr val="FFFFFF"/>
                </a:solidFill>
              </a:rPr>
              <a:t>     ●  Drug combination  —  Bliss / HSA / ZIP synergy scoring</a:t>
            </a:r>
          </a:p>
          <a:p>
            <a:pPr>
              <a:spcBef>
                <a:spcPts val="300"/>
              </a:spcBef>
            </a:pPr>
            <a:r>
              <a:rPr sz="1100">
                <a:solidFill>
                  <a:srgbClr val="FFFFFF"/>
                </a:solidFill>
              </a:rPr>
              <a:t>     ●  Genetic perturbagen  —  siRNA/shRNA normalised activity</a:t>
            </a:r>
          </a:p>
          <a:p>
            <a:pPr>
              <a:spcBef>
                <a:spcPts val="300"/>
              </a:spcBef>
            </a:pPr>
            <a:r>
              <a:rPr sz="1100">
                <a:solidFill>
                  <a:srgbClr val="FFFFFF"/>
                </a:solidFill>
              </a:rPr>
              <a:t>     ●  Genetic-chemical  —  gene-knockdown + drug interaction</a:t>
            </a:r>
          </a:p>
          <a:p>
            <a:pPr algn="l">
              <a:spcBef>
                <a:spcPts val="1000"/>
              </a:spcBef>
            </a:pPr>
            <a:r>
              <a:rPr sz="1000" b="0" i="0">
                <a:solidFill>
                  <a:srgbClr val="88BBE0"/>
                </a:solidFill>
              </a:rPr>
              <a:t>Web tool: htsplotter.cmgg.be  ·  GitHub: github.com/CBIGR/HTSplotter</a:t>
            </a:r>
          </a:p>
        </p:txBody>
      </p:sp>
      <p:sp>
        <p:nvSpPr>
          <p:cNvPr id="10" name="Rectangle 9"/>
          <p:cNvSpPr/>
          <p:nvPr/>
        </p:nvSpPr>
        <p:spPr>
          <a:xfrm>
            <a:off x="7635240" y="2880360"/>
            <a:ext cx="4160520" cy="3520440"/>
          </a:xfrm>
          <a:prstGeom prst="rect">
            <a:avLst/>
          </a:prstGeom>
          <a:solidFill>
            <a:srgbClr val="0F2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35240" y="2880360"/>
            <a:ext cx="64008" cy="35204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2971800"/>
            <a:ext cx="3840480" cy="3337560"/>
          </a:xfrm>
          <a:prstGeom prst="rect">
            <a:avLst/>
          </a:prstGeom>
          <a:noFill/>
        </p:spPr>
        <p:txBody>
          <a:bodyPr wrap="square">
            <a:spAutoFit/>
          </a:bodyPr>
          <a:lstStyle/>
          <a:p>
            <a:r>
              <a:rPr sz="1800" b="1">
                <a:solidFill>
                  <a:srgbClr val="BDD7EE"/>
                </a:solidFill>
              </a:rPr>
              <a:t>Citation</a:t>
            </a:r>
          </a:p>
          <a:p>
            <a:pPr algn="l">
              <a:spcBef>
                <a:spcPts val="1200"/>
              </a:spcBef>
            </a:pPr>
            <a:r>
              <a:rPr sz="1100" b="0" i="0">
                <a:solidFill>
                  <a:srgbClr val="FFFFFF"/>
                </a:solidFill>
              </a:rPr>
              <a:t>Nunes C, Anckaert J, De Vloed F, De Wyn J, Durinck K, Vandesompele J, Speleman F, Vermeirssen V.</a:t>
            </a:r>
          </a:p>
          <a:p>
            <a:pPr algn="l">
              <a:spcBef>
                <a:spcPts val="800"/>
              </a:spcBef>
            </a:pPr>
            <a:r>
              <a:rPr sz="1100" b="1" i="0">
                <a:solidFill>
                  <a:srgbClr val="FFFFFF"/>
                </a:solidFill>
              </a:rPr>
              <a:t>HTSplotter: An end-to-end data processing, analysis and visualisation tool for chemical and genetic in vitro perturbation screening.</a:t>
            </a:r>
          </a:p>
          <a:p>
            <a:pPr algn="l">
              <a:spcBef>
                <a:spcPts val="800"/>
              </a:spcBef>
            </a:pPr>
            <a:r>
              <a:rPr sz="1100" b="0" i="1">
                <a:solidFill>
                  <a:srgbClr val="BDD7EE"/>
                </a:solidFill>
              </a:rPr>
              <a:t>PLoS One. 2024;19(1):e0296322</a:t>
            </a:r>
          </a:p>
          <a:p>
            <a:pPr algn="l">
              <a:spcBef>
                <a:spcPts val="500"/>
              </a:spcBef>
            </a:pPr>
            <a:r>
              <a:rPr sz="1100" b="0" i="0">
                <a:solidFill>
                  <a:srgbClr val="BDD7EE"/>
                </a:solidFill>
              </a:rPr>
              <a:t>DOI: 10.1371/journal.pone.0296322</a:t>
            </a:r>
          </a:p>
          <a:p>
            <a:pPr algn="l">
              <a:spcBef>
                <a:spcPts val="400"/>
              </a:spcBef>
            </a:pPr>
            <a:r>
              <a:rPr sz="1100" b="0" i="0">
                <a:solidFill>
                  <a:srgbClr val="BDD7EE"/>
                </a:solidFill>
              </a:rPr>
              <a:t>PMID: 38181013</a:t>
            </a:r>
          </a:p>
        </p:txBody>
      </p:sp>
      <p:sp>
        <p:nvSpPr>
          <p:cNvPr id="13" name="Rectangle 12"/>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1 of 7</a:t>
            </a:r>
          </a:p>
        </p:txBody>
      </p:sp>
      <p:sp>
        <p:nvSpPr>
          <p:cNvPr id="15" name="TextBox 14"/>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8046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8046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11704320" cy="502920"/>
          </a:xfrm>
          <a:prstGeom prst="rect">
            <a:avLst/>
          </a:prstGeom>
          <a:noFill/>
        </p:spPr>
        <p:txBody>
          <a:bodyPr wrap="square">
            <a:spAutoFit/>
          </a:bodyPr>
          <a:lstStyle/>
          <a:p>
            <a:pPr algn="l"/>
            <a:r>
              <a:rPr sz="2600" b="1" i="0">
                <a:solidFill>
                  <a:srgbClr val="FFFFFF"/>
                </a:solidFill>
              </a:rPr>
              <a:t>The 4 Experiment Types Supported by HTSplotter</a:t>
            </a:r>
          </a:p>
        </p:txBody>
      </p:sp>
      <p:sp>
        <p:nvSpPr>
          <p:cNvPr id="5" name="TextBox 4"/>
          <p:cNvSpPr txBox="1"/>
          <p:nvPr/>
        </p:nvSpPr>
        <p:spPr>
          <a:xfrm>
            <a:off x="228600" y="548640"/>
            <a:ext cx="11704320" cy="228600"/>
          </a:xfrm>
          <a:prstGeom prst="rect">
            <a:avLst/>
          </a:prstGeom>
          <a:noFill/>
        </p:spPr>
        <p:txBody>
          <a:bodyPr wrap="square">
            <a:spAutoFit/>
          </a:bodyPr>
          <a:lstStyle/>
          <a:p>
            <a:pPr algn="l"/>
            <a:r>
              <a:rPr sz="1200" b="0" i="0">
                <a:solidFill>
                  <a:srgbClr val="BDD7EE"/>
                </a:solidFill>
              </a:rPr>
              <a:t>Each type auto-detected from input file header — no manual configuration needed</a:t>
            </a:r>
          </a:p>
        </p:txBody>
      </p:sp>
      <p:sp>
        <p:nvSpPr>
          <p:cNvPr id="6" name="Rectangle 5"/>
          <p:cNvSpPr/>
          <p:nvPr/>
        </p:nvSpPr>
        <p:spPr>
          <a:xfrm>
            <a:off x="274320" y="960120"/>
            <a:ext cx="5669280" cy="2743200"/>
          </a:xfrm>
          <a:prstGeom prst="rect">
            <a:avLst/>
          </a:prstGeom>
          <a:solidFill>
            <a:srgbClr val="EFF4F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960120"/>
            <a:ext cx="5669280" cy="45720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1024128"/>
            <a:ext cx="4754880" cy="347472"/>
          </a:xfrm>
          <a:prstGeom prst="rect">
            <a:avLst/>
          </a:prstGeom>
          <a:noFill/>
        </p:spPr>
        <p:txBody>
          <a:bodyPr wrap="square">
            <a:spAutoFit/>
          </a:bodyPr>
          <a:lstStyle/>
          <a:p>
            <a:pPr algn="l"/>
            <a:r>
              <a:rPr sz="1600" b="1" i="0">
                <a:solidFill>
                  <a:srgbClr val="FFFFFF"/>
                </a:solidFill>
              </a:rPr>
              <a:t>💊  Drug Screen</a:t>
            </a:r>
          </a:p>
        </p:txBody>
      </p:sp>
      <p:sp>
        <p:nvSpPr>
          <p:cNvPr id="9" name="Rectangle 8"/>
          <p:cNvSpPr/>
          <p:nvPr/>
        </p:nvSpPr>
        <p:spPr>
          <a:xfrm>
            <a:off x="4206240" y="1042416"/>
            <a:ext cx="1600200" cy="274320"/>
          </a:xfrm>
          <a:prstGeom prst="rect">
            <a:avLst/>
          </a:prstGeom>
          <a:solidFill>
            <a:srgbClr val="1F8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24528" y="1051560"/>
            <a:ext cx="1581912" cy="256032"/>
          </a:xfrm>
          <a:prstGeom prst="rect">
            <a:avLst/>
          </a:prstGeom>
          <a:noFill/>
        </p:spPr>
        <p:txBody>
          <a:bodyPr wrap="square">
            <a:spAutoFit/>
          </a:bodyPr>
          <a:lstStyle/>
          <a:p>
            <a:pPr algn="ctr"/>
            <a:r>
              <a:rPr sz="900" b="1" i="0">
                <a:solidFill>
                  <a:srgbClr val="FFFFFF"/>
                </a:solidFill>
              </a:rPr>
              <a:t>✅</a:t>
            </a:r>
          </a:p>
        </p:txBody>
      </p:sp>
      <p:sp>
        <p:nvSpPr>
          <p:cNvPr id="11" name="TextBox 10"/>
          <p:cNvSpPr txBox="1"/>
          <p:nvPr/>
        </p:nvSpPr>
        <p:spPr>
          <a:xfrm>
            <a:off x="411479" y="1481328"/>
            <a:ext cx="5349240" cy="384048"/>
          </a:xfrm>
          <a:prstGeom prst="rect">
            <a:avLst/>
          </a:prstGeom>
          <a:noFill/>
        </p:spPr>
        <p:txBody>
          <a:bodyPr wrap="square">
            <a:spAutoFit/>
          </a:bodyPr>
          <a:lstStyle/>
          <a:p>
            <a:pPr algn="l"/>
            <a:r>
              <a:rPr sz="1100" b="0" i="0">
                <a:solidFill>
                  <a:srgbClr val="1A1A1A"/>
                </a:solidFill>
              </a:rPr>
              <a:t>Tests a single drug across a concentration range to determine potency.</a:t>
            </a:r>
          </a:p>
        </p:txBody>
      </p:sp>
      <p:sp>
        <p:nvSpPr>
          <p:cNvPr id="12" name="TextBox 11"/>
          <p:cNvSpPr txBox="1"/>
          <p:nvPr/>
        </p:nvSpPr>
        <p:spPr>
          <a:xfrm>
            <a:off x="411479" y="1920240"/>
            <a:ext cx="1005840" cy="228600"/>
          </a:xfrm>
          <a:prstGeom prst="rect">
            <a:avLst/>
          </a:prstGeom>
          <a:noFill/>
        </p:spPr>
        <p:txBody>
          <a:bodyPr wrap="square">
            <a:spAutoFit/>
          </a:bodyPr>
          <a:lstStyle/>
          <a:p>
            <a:pPr algn="l"/>
            <a:r>
              <a:rPr sz="1000" b="1" i="0">
                <a:solidFill>
                  <a:srgbClr val="2E75B6"/>
                </a:solidFill>
              </a:rPr>
              <a:t>Outputs:</a:t>
            </a:r>
          </a:p>
        </p:txBody>
      </p:sp>
      <p:sp>
        <p:nvSpPr>
          <p:cNvPr id="13" name="TextBox 12"/>
          <p:cNvSpPr txBox="1"/>
          <p:nvPr/>
        </p:nvSpPr>
        <p:spPr>
          <a:xfrm>
            <a:off x="411479" y="2148840"/>
            <a:ext cx="2606040" cy="1371600"/>
          </a:xfrm>
          <a:prstGeom prst="rect">
            <a:avLst/>
          </a:prstGeom>
          <a:noFill/>
        </p:spPr>
        <p:txBody>
          <a:bodyPr wrap="square">
            <a:spAutoFit/>
          </a:bodyPr>
          <a:lstStyle/>
          <a:p>
            <a:pPr>
              <a:spcBef>
                <a:spcPts val="400"/>
              </a:spcBef>
            </a:pPr>
            <a:r>
              <a:rPr sz="1000">
                <a:solidFill>
                  <a:srgbClr val="1A1A1A"/>
                </a:solidFill>
              </a:rPr>
              <a:t>•  Dose-response curves (sigmoidal fit)</a:t>
            </a:r>
          </a:p>
          <a:p>
            <a:pPr>
              <a:spcBef>
                <a:spcPts val="400"/>
              </a:spcBef>
            </a:pPr>
            <a:r>
              <a:rPr sz="1000">
                <a:solidFill>
                  <a:srgbClr val="1A1A1A"/>
                </a:solidFill>
              </a:rPr>
              <a:t>•  IC₂₅ / IC₅₀ / IC₇₅ values</a:t>
            </a:r>
          </a:p>
          <a:p>
            <a:pPr>
              <a:spcBef>
                <a:spcPts val="400"/>
              </a:spcBef>
            </a:pPr>
            <a:r>
              <a:rPr sz="1000">
                <a:solidFill>
                  <a:srgbClr val="1A1A1A"/>
                </a:solidFill>
              </a:rPr>
              <a:t>•  R² and curve fit statistics</a:t>
            </a:r>
          </a:p>
          <a:p>
            <a:pPr>
              <a:spcBef>
                <a:spcPts val="400"/>
              </a:spcBef>
            </a:pPr>
            <a:r>
              <a:rPr sz="1000">
                <a:solidFill>
                  <a:srgbClr val="1A1A1A"/>
                </a:solidFill>
              </a:rPr>
              <a:t>•  Growth rate over time (multi-TP)</a:t>
            </a:r>
          </a:p>
        </p:txBody>
      </p:sp>
      <p:sp>
        <p:nvSpPr>
          <p:cNvPr id="14" name="TextBox 13"/>
          <p:cNvSpPr txBox="1"/>
          <p:nvPr/>
        </p:nvSpPr>
        <p:spPr>
          <a:xfrm>
            <a:off x="3200400" y="1920240"/>
            <a:ext cx="2286000" cy="228600"/>
          </a:xfrm>
          <a:prstGeom prst="rect">
            <a:avLst/>
          </a:prstGeom>
          <a:noFill/>
        </p:spPr>
        <p:txBody>
          <a:bodyPr wrap="square">
            <a:spAutoFit/>
          </a:bodyPr>
          <a:lstStyle/>
          <a:p>
            <a:pPr algn="l"/>
            <a:r>
              <a:rPr sz="1000" b="1" i="0">
                <a:solidFill>
                  <a:srgbClr val="2E75B6"/>
                </a:solidFill>
              </a:rPr>
              <a:t>Datasets run:</a:t>
            </a:r>
          </a:p>
        </p:txBody>
      </p:sp>
      <p:sp>
        <p:nvSpPr>
          <p:cNvPr id="15" name="TextBox 14"/>
          <p:cNvSpPr txBox="1"/>
          <p:nvPr/>
        </p:nvSpPr>
        <p:spPr>
          <a:xfrm>
            <a:off x="3200400" y="2148840"/>
            <a:ext cx="2651760" cy="1371600"/>
          </a:xfrm>
          <a:prstGeom prst="rect">
            <a:avLst/>
          </a:prstGeom>
          <a:noFill/>
        </p:spPr>
        <p:txBody>
          <a:bodyPr wrap="square">
            <a:spAutoFit/>
          </a:bodyPr>
          <a:lstStyle/>
          <a:p>
            <a:pPr>
              <a:spcBef>
                <a:spcPts val="400"/>
              </a:spcBef>
            </a:pPr>
            <a:r>
              <a:rPr sz="1000">
                <a:solidFill>
                  <a:srgbClr val="1A1A1A"/>
                </a:solidFill>
              </a:rPr>
              <a:t>•  1 time point (72 h endpoint)</a:t>
            </a:r>
          </a:p>
          <a:p>
            <a:pPr>
              <a:spcBef>
                <a:spcPts val="400"/>
              </a:spcBef>
            </a:pPr>
            <a:r>
              <a:rPr sz="1000">
                <a:solidFill>
                  <a:srgbClr val="1A1A1A"/>
                </a:solidFill>
              </a:rPr>
              <a:t>•  37 time points (2 h interval, 74 h total) × 2 variants</a:t>
            </a:r>
          </a:p>
        </p:txBody>
      </p:sp>
      <p:sp>
        <p:nvSpPr>
          <p:cNvPr id="16" name="Rectangle 15"/>
          <p:cNvSpPr/>
          <p:nvPr/>
        </p:nvSpPr>
        <p:spPr>
          <a:xfrm>
            <a:off x="6263640" y="960120"/>
            <a:ext cx="5669280" cy="2743200"/>
          </a:xfrm>
          <a:prstGeom prst="rect">
            <a:avLst/>
          </a:prstGeom>
          <a:solidFill>
            <a:srgbClr val="F3EEFA"/>
          </a:solidFill>
          <a:ln w="190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960120"/>
            <a:ext cx="5669280" cy="457200"/>
          </a:xfrm>
          <a:prstGeom prst="rect">
            <a:avLst/>
          </a:prstGeom>
          <a:solidFill>
            <a:srgbClr val="703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024128"/>
            <a:ext cx="4754880" cy="347472"/>
          </a:xfrm>
          <a:prstGeom prst="rect">
            <a:avLst/>
          </a:prstGeom>
          <a:noFill/>
        </p:spPr>
        <p:txBody>
          <a:bodyPr wrap="square">
            <a:spAutoFit/>
          </a:bodyPr>
          <a:lstStyle/>
          <a:p>
            <a:pPr algn="l"/>
            <a:r>
              <a:rPr sz="1600" b="1" i="0">
                <a:solidFill>
                  <a:srgbClr val="FFFFFF"/>
                </a:solidFill>
              </a:rPr>
              <a:t>🔬  Drug Combination</a:t>
            </a:r>
          </a:p>
        </p:txBody>
      </p:sp>
      <p:sp>
        <p:nvSpPr>
          <p:cNvPr id="19" name="Rectangle 18"/>
          <p:cNvSpPr/>
          <p:nvPr/>
        </p:nvSpPr>
        <p:spPr>
          <a:xfrm>
            <a:off x="10195559" y="1042416"/>
            <a:ext cx="1600200" cy="274320"/>
          </a:xfrm>
          <a:prstGeom prst="rect">
            <a:avLst/>
          </a:prstGeom>
          <a:solidFill>
            <a:srgbClr val="1F8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13848" y="1051560"/>
            <a:ext cx="1581912" cy="256032"/>
          </a:xfrm>
          <a:prstGeom prst="rect">
            <a:avLst/>
          </a:prstGeom>
          <a:noFill/>
        </p:spPr>
        <p:txBody>
          <a:bodyPr wrap="square">
            <a:spAutoFit/>
          </a:bodyPr>
          <a:lstStyle/>
          <a:p>
            <a:pPr algn="ctr"/>
            <a:r>
              <a:rPr sz="900" b="1" i="0">
                <a:solidFill>
                  <a:srgbClr val="FFFFFF"/>
                </a:solidFill>
              </a:rPr>
              <a:t>✅</a:t>
            </a:r>
          </a:p>
        </p:txBody>
      </p:sp>
      <p:sp>
        <p:nvSpPr>
          <p:cNvPr id="21" name="TextBox 20"/>
          <p:cNvSpPr txBox="1"/>
          <p:nvPr/>
        </p:nvSpPr>
        <p:spPr>
          <a:xfrm>
            <a:off x="6400800" y="1481328"/>
            <a:ext cx="5349240" cy="384048"/>
          </a:xfrm>
          <a:prstGeom prst="rect">
            <a:avLst/>
          </a:prstGeom>
          <a:noFill/>
        </p:spPr>
        <p:txBody>
          <a:bodyPr wrap="square">
            <a:spAutoFit/>
          </a:bodyPr>
          <a:lstStyle/>
          <a:p>
            <a:pPr algn="l"/>
            <a:r>
              <a:rPr sz="1100" b="0" i="0">
                <a:solidFill>
                  <a:srgbClr val="1A1A1A"/>
                </a:solidFill>
              </a:rPr>
              <a:t>Tests two drugs in a 7×7 dose matrix to identify synergy or antagonism.</a:t>
            </a:r>
          </a:p>
        </p:txBody>
      </p:sp>
      <p:sp>
        <p:nvSpPr>
          <p:cNvPr id="22" name="TextBox 21"/>
          <p:cNvSpPr txBox="1"/>
          <p:nvPr/>
        </p:nvSpPr>
        <p:spPr>
          <a:xfrm>
            <a:off x="6400800" y="1920240"/>
            <a:ext cx="1005840" cy="228600"/>
          </a:xfrm>
          <a:prstGeom prst="rect">
            <a:avLst/>
          </a:prstGeom>
          <a:noFill/>
        </p:spPr>
        <p:txBody>
          <a:bodyPr wrap="square">
            <a:spAutoFit/>
          </a:bodyPr>
          <a:lstStyle/>
          <a:p>
            <a:pPr algn="l"/>
            <a:r>
              <a:rPr sz="1000" b="1" i="0">
                <a:solidFill>
                  <a:srgbClr val="7030A0"/>
                </a:solidFill>
              </a:rPr>
              <a:t>Outputs:</a:t>
            </a:r>
          </a:p>
        </p:txBody>
      </p:sp>
      <p:sp>
        <p:nvSpPr>
          <p:cNvPr id="23" name="TextBox 22"/>
          <p:cNvSpPr txBox="1"/>
          <p:nvPr/>
        </p:nvSpPr>
        <p:spPr>
          <a:xfrm>
            <a:off x="6400800" y="2148840"/>
            <a:ext cx="2606040" cy="1371600"/>
          </a:xfrm>
          <a:prstGeom prst="rect">
            <a:avLst/>
          </a:prstGeom>
          <a:noFill/>
        </p:spPr>
        <p:txBody>
          <a:bodyPr wrap="square">
            <a:spAutoFit/>
          </a:bodyPr>
          <a:lstStyle/>
          <a:p>
            <a:pPr>
              <a:spcBef>
                <a:spcPts val="400"/>
              </a:spcBef>
            </a:pPr>
            <a:r>
              <a:rPr sz="1000">
                <a:solidFill>
                  <a:srgbClr val="1A1A1A"/>
                </a:solidFill>
              </a:rPr>
              <a:t>•  Bliss / HSA / ZIP synergy scores per dose pair</a:t>
            </a:r>
          </a:p>
          <a:p>
            <a:pPr>
              <a:spcBef>
                <a:spcPts val="400"/>
              </a:spcBef>
            </a:pPr>
            <a:r>
              <a:rPr sz="1000">
                <a:solidFill>
                  <a:srgbClr val="1A1A1A"/>
                </a:solidFill>
              </a:rPr>
              <a:t>•  Predicted vs. observed effect</a:t>
            </a:r>
          </a:p>
          <a:p>
            <a:pPr>
              <a:spcBef>
                <a:spcPts val="400"/>
              </a:spcBef>
            </a:pPr>
            <a:r>
              <a:rPr sz="1000">
                <a:solidFill>
                  <a:srgbClr val="1A1A1A"/>
                </a:solidFill>
              </a:rPr>
              <a:t>•  Dose-response for each drug alone</a:t>
            </a:r>
          </a:p>
          <a:p>
            <a:pPr>
              <a:spcBef>
                <a:spcPts val="400"/>
              </a:spcBef>
            </a:pPr>
            <a:r>
              <a:rPr sz="1000">
                <a:solidFill>
                  <a:srgbClr val="1A1A1A"/>
                </a:solidFill>
              </a:rPr>
              <a:t>•  Synergy heatmaps (PDF)</a:t>
            </a:r>
          </a:p>
        </p:txBody>
      </p:sp>
      <p:sp>
        <p:nvSpPr>
          <p:cNvPr id="24" name="TextBox 23"/>
          <p:cNvSpPr txBox="1"/>
          <p:nvPr/>
        </p:nvSpPr>
        <p:spPr>
          <a:xfrm>
            <a:off x="9189720" y="1920240"/>
            <a:ext cx="2286000" cy="228600"/>
          </a:xfrm>
          <a:prstGeom prst="rect">
            <a:avLst/>
          </a:prstGeom>
          <a:noFill/>
        </p:spPr>
        <p:txBody>
          <a:bodyPr wrap="square">
            <a:spAutoFit/>
          </a:bodyPr>
          <a:lstStyle/>
          <a:p>
            <a:pPr algn="l"/>
            <a:r>
              <a:rPr sz="1000" b="1" i="0">
                <a:solidFill>
                  <a:srgbClr val="7030A0"/>
                </a:solidFill>
              </a:rPr>
              <a:t>Datasets run:</a:t>
            </a:r>
          </a:p>
        </p:txBody>
      </p:sp>
      <p:sp>
        <p:nvSpPr>
          <p:cNvPr id="25" name="TextBox 24"/>
          <p:cNvSpPr txBox="1"/>
          <p:nvPr/>
        </p:nvSpPr>
        <p:spPr>
          <a:xfrm>
            <a:off x="9189720" y="2148840"/>
            <a:ext cx="2651760" cy="1371600"/>
          </a:xfrm>
          <a:prstGeom prst="rect">
            <a:avLst/>
          </a:prstGeom>
          <a:noFill/>
        </p:spPr>
        <p:txBody>
          <a:bodyPr wrap="square">
            <a:spAutoFit/>
          </a:bodyPr>
          <a:lstStyle/>
          <a:p>
            <a:pPr>
              <a:spcBef>
                <a:spcPts val="400"/>
              </a:spcBef>
            </a:pPr>
            <a:r>
              <a:rPr sz="1000">
                <a:solidFill>
                  <a:srgbClr val="1A1A1A"/>
                </a:solidFill>
              </a:rPr>
              <a:t>•  1 time point</a:t>
            </a:r>
          </a:p>
          <a:p>
            <a:pPr>
              <a:spcBef>
                <a:spcPts val="400"/>
              </a:spcBef>
            </a:pPr>
            <a:r>
              <a:rPr sz="1000">
                <a:solidFill>
                  <a:srgbClr val="1A1A1A"/>
                </a:solidFill>
              </a:rPr>
              <a:t>•  37 time points × 2 variants (incl. repetitive conditions)</a:t>
            </a:r>
          </a:p>
        </p:txBody>
      </p:sp>
      <p:sp>
        <p:nvSpPr>
          <p:cNvPr id="26" name="Rectangle 25"/>
          <p:cNvSpPr/>
          <p:nvPr/>
        </p:nvSpPr>
        <p:spPr>
          <a:xfrm>
            <a:off x="274320" y="3840480"/>
            <a:ext cx="5669280" cy="2743200"/>
          </a:xfrm>
          <a:prstGeom prst="rect">
            <a:avLst/>
          </a:prstGeom>
          <a:solidFill>
            <a:srgbClr val="EAF5EA"/>
          </a:solidFill>
          <a:ln w="19050">
            <a:solidFill>
              <a:srgbClr val="3796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3840480"/>
            <a:ext cx="5669280" cy="457200"/>
          </a:xfrm>
          <a:prstGeom prst="rect">
            <a:avLst/>
          </a:prstGeom>
          <a:solidFill>
            <a:srgbClr val="3796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79" y="3904488"/>
            <a:ext cx="4754880" cy="347472"/>
          </a:xfrm>
          <a:prstGeom prst="rect">
            <a:avLst/>
          </a:prstGeom>
          <a:noFill/>
        </p:spPr>
        <p:txBody>
          <a:bodyPr wrap="square">
            <a:spAutoFit/>
          </a:bodyPr>
          <a:lstStyle/>
          <a:p>
            <a:pPr algn="l"/>
            <a:r>
              <a:rPr sz="1600" b="1" i="0">
                <a:solidFill>
                  <a:srgbClr val="FFFFFF"/>
                </a:solidFill>
              </a:rPr>
              <a:t>🧬  Genetic Perturbagen</a:t>
            </a:r>
          </a:p>
        </p:txBody>
      </p:sp>
      <p:sp>
        <p:nvSpPr>
          <p:cNvPr id="29" name="Rectangle 28"/>
          <p:cNvSpPr/>
          <p:nvPr/>
        </p:nvSpPr>
        <p:spPr>
          <a:xfrm>
            <a:off x="4206240" y="3922776"/>
            <a:ext cx="1600200" cy="274320"/>
          </a:xfrm>
          <a:prstGeom prst="rect">
            <a:avLst/>
          </a:prstGeom>
          <a:solidFill>
            <a:srgbClr val="1F8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24528" y="3931920"/>
            <a:ext cx="1581912" cy="256032"/>
          </a:xfrm>
          <a:prstGeom prst="rect">
            <a:avLst/>
          </a:prstGeom>
          <a:noFill/>
        </p:spPr>
        <p:txBody>
          <a:bodyPr wrap="square">
            <a:spAutoFit/>
          </a:bodyPr>
          <a:lstStyle/>
          <a:p>
            <a:pPr algn="ctr"/>
            <a:r>
              <a:rPr sz="900" b="1" i="0">
                <a:solidFill>
                  <a:srgbClr val="FFFFFF"/>
                </a:solidFill>
              </a:rPr>
              <a:t>✅</a:t>
            </a:r>
          </a:p>
        </p:txBody>
      </p:sp>
      <p:sp>
        <p:nvSpPr>
          <p:cNvPr id="31" name="TextBox 30"/>
          <p:cNvSpPr txBox="1"/>
          <p:nvPr/>
        </p:nvSpPr>
        <p:spPr>
          <a:xfrm>
            <a:off x="411479" y="4361688"/>
            <a:ext cx="5349240" cy="384048"/>
          </a:xfrm>
          <a:prstGeom prst="rect">
            <a:avLst/>
          </a:prstGeom>
          <a:noFill/>
        </p:spPr>
        <p:txBody>
          <a:bodyPr wrap="square">
            <a:spAutoFit/>
          </a:bodyPr>
          <a:lstStyle/>
          <a:p>
            <a:pPr algn="l"/>
            <a:r>
              <a:rPr sz="1100" b="0" i="0">
                <a:solidFill>
                  <a:srgbClr val="1A1A1A"/>
                </a:solidFill>
              </a:rPr>
              <a:t>Screens siRNA / shRNA knockdowns to identify genes affecting cell growth.</a:t>
            </a:r>
          </a:p>
        </p:txBody>
      </p:sp>
      <p:sp>
        <p:nvSpPr>
          <p:cNvPr id="32" name="TextBox 31"/>
          <p:cNvSpPr txBox="1"/>
          <p:nvPr/>
        </p:nvSpPr>
        <p:spPr>
          <a:xfrm>
            <a:off x="411479" y="4800600"/>
            <a:ext cx="1005840" cy="228600"/>
          </a:xfrm>
          <a:prstGeom prst="rect">
            <a:avLst/>
          </a:prstGeom>
          <a:noFill/>
        </p:spPr>
        <p:txBody>
          <a:bodyPr wrap="square">
            <a:spAutoFit/>
          </a:bodyPr>
          <a:lstStyle/>
          <a:p>
            <a:pPr algn="l"/>
            <a:r>
              <a:rPr sz="1000" b="1" i="0">
                <a:solidFill>
                  <a:srgbClr val="379637"/>
                </a:solidFill>
              </a:rPr>
              <a:t>Outputs:</a:t>
            </a:r>
          </a:p>
        </p:txBody>
      </p:sp>
      <p:sp>
        <p:nvSpPr>
          <p:cNvPr id="33" name="TextBox 32"/>
          <p:cNvSpPr txBox="1"/>
          <p:nvPr/>
        </p:nvSpPr>
        <p:spPr>
          <a:xfrm>
            <a:off x="411479" y="5029200"/>
            <a:ext cx="2606040" cy="1371600"/>
          </a:xfrm>
          <a:prstGeom prst="rect">
            <a:avLst/>
          </a:prstGeom>
          <a:noFill/>
        </p:spPr>
        <p:txBody>
          <a:bodyPr wrap="square">
            <a:spAutoFit/>
          </a:bodyPr>
          <a:lstStyle/>
          <a:p>
            <a:pPr>
              <a:spcBef>
                <a:spcPts val="400"/>
              </a:spcBef>
            </a:pPr>
            <a:r>
              <a:rPr sz="1000">
                <a:solidFill>
                  <a:srgbClr val="1A1A1A"/>
                </a:solidFill>
              </a:rPr>
              <a:t>•  Normalised confluency per perturbagen vs. control</a:t>
            </a:r>
          </a:p>
          <a:p>
            <a:pPr>
              <a:spcBef>
                <a:spcPts val="400"/>
              </a:spcBef>
            </a:pPr>
            <a:r>
              <a:rPr sz="1000">
                <a:solidFill>
                  <a:srgbClr val="1A1A1A"/>
                </a:solidFill>
              </a:rPr>
              <a:t>•  Growth rate at each time point</a:t>
            </a:r>
          </a:p>
          <a:p>
            <a:pPr>
              <a:spcBef>
                <a:spcPts val="400"/>
              </a:spcBef>
            </a:pPr>
            <a:r>
              <a:rPr sz="1000">
                <a:solidFill>
                  <a:srgbClr val="1A1A1A"/>
                </a:solidFill>
              </a:rPr>
              <a:t>•  Multiple control group support</a:t>
            </a:r>
          </a:p>
        </p:txBody>
      </p:sp>
      <p:sp>
        <p:nvSpPr>
          <p:cNvPr id="34" name="TextBox 33"/>
          <p:cNvSpPr txBox="1"/>
          <p:nvPr/>
        </p:nvSpPr>
        <p:spPr>
          <a:xfrm>
            <a:off x="3200400" y="4800600"/>
            <a:ext cx="2286000" cy="228600"/>
          </a:xfrm>
          <a:prstGeom prst="rect">
            <a:avLst/>
          </a:prstGeom>
          <a:noFill/>
        </p:spPr>
        <p:txBody>
          <a:bodyPr wrap="square">
            <a:spAutoFit/>
          </a:bodyPr>
          <a:lstStyle/>
          <a:p>
            <a:pPr algn="l"/>
            <a:r>
              <a:rPr sz="1000" b="1" i="0">
                <a:solidFill>
                  <a:srgbClr val="379637"/>
                </a:solidFill>
              </a:rPr>
              <a:t>Datasets run:</a:t>
            </a:r>
          </a:p>
        </p:txBody>
      </p:sp>
      <p:sp>
        <p:nvSpPr>
          <p:cNvPr id="35" name="TextBox 34"/>
          <p:cNvSpPr txBox="1"/>
          <p:nvPr/>
        </p:nvSpPr>
        <p:spPr>
          <a:xfrm>
            <a:off x="3200400" y="5029200"/>
            <a:ext cx="2651760" cy="1371600"/>
          </a:xfrm>
          <a:prstGeom prst="rect">
            <a:avLst/>
          </a:prstGeom>
          <a:noFill/>
        </p:spPr>
        <p:txBody>
          <a:bodyPr wrap="square">
            <a:spAutoFit/>
          </a:bodyPr>
          <a:lstStyle/>
          <a:p>
            <a:pPr>
              <a:spcBef>
                <a:spcPts val="400"/>
              </a:spcBef>
            </a:pPr>
            <a:r>
              <a:rPr sz="1000">
                <a:solidFill>
                  <a:srgbClr val="1A1A1A"/>
                </a:solidFill>
              </a:rPr>
              <a:t>•  1 time point, 1 control</a:t>
            </a:r>
          </a:p>
          <a:p>
            <a:pPr>
              <a:spcBef>
                <a:spcPts val="400"/>
              </a:spcBef>
            </a:pPr>
            <a:r>
              <a:rPr sz="1000">
                <a:solidFill>
                  <a:srgbClr val="1A1A1A"/>
                </a:solidFill>
              </a:rPr>
              <a:t>•  23 time points, multiple controls</a:t>
            </a:r>
          </a:p>
        </p:txBody>
      </p:sp>
      <p:sp>
        <p:nvSpPr>
          <p:cNvPr id="36" name="Rectangle 35"/>
          <p:cNvSpPr/>
          <p:nvPr/>
        </p:nvSpPr>
        <p:spPr>
          <a:xfrm>
            <a:off x="6263640" y="3840480"/>
            <a:ext cx="5669280" cy="2743200"/>
          </a:xfrm>
          <a:prstGeom prst="rect">
            <a:avLst/>
          </a:prstGeom>
          <a:solidFill>
            <a:srgbClr val="FFF3E8"/>
          </a:solidFill>
          <a:ln w="1905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0" y="3840480"/>
            <a:ext cx="5669280" cy="45720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3904488"/>
            <a:ext cx="4754880" cy="347472"/>
          </a:xfrm>
          <a:prstGeom prst="rect">
            <a:avLst/>
          </a:prstGeom>
          <a:noFill/>
        </p:spPr>
        <p:txBody>
          <a:bodyPr wrap="square">
            <a:spAutoFit/>
          </a:bodyPr>
          <a:lstStyle/>
          <a:p>
            <a:pPr algn="l"/>
            <a:r>
              <a:rPr sz="1600" b="1" i="0">
                <a:solidFill>
                  <a:srgbClr val="FFFFFF"/>
                </a:solidFill>
              </a:rPr>
              <a:t>⚗️  Genetic-Chemical</a:t>
            </a:r>
          </a:p>
        </p:txBody>
      </p:sp>
      <p:sp>
        <p:nvSpPr>
          <p:cNvPr id="39" name="Rectangle 38"/>
          <p:cNvSpPr/>
          <p:nvPr/>
        </p:nvSpPr>
        <p:spPr>
          <a:xfrm>
            <a:off x="10195559" y="3922776"/>
            <a:ext cx="1600200" cy="27432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13848" y="3931920"/>
            <a:ext cx="1581912" cy="256032"/>
          </a:xfrm>
          <a:prstGeom prst="rect">
            <a:avLst/>
          </a:prstGeom>
          <a:noFill/>
        </p:spPr>
        <p:txBody>
          <a:bodyPr wrap="square">
            <a:spAutoFit/>
          </a:bodyPr>
          <a:lstStyle/>
          <a:p>
            <a:pPr algn="ctr"/>
            <a:r>
              <a:rPr sz="900" b="1" i="0">
                <a:solidFill>
                  <a:srgbClr val="FFFFFF"/>
                </a:solidFill>
              </a:rPr>
              <a:t>⚠️</a:t>
            </a:r>
          </a:p>
        </p:txBody>
      </p:sp>
      <p:sp>
        <p:nvSpPr>
          <p:cNvPr id="41" name="TextBox 40"/>
          <p:cNvSpPr txBox="1"/>
          <p:nvPr/>
        </p:nvSpPr>
        <p:spPr>
          <a:xfrm>
            <a:off x="6400800" y="4361688"/>
            <a:ext cx="5349240" cy="384048"/>
          </a:xfrm>
          <a:prstGeom prst="rect">
            <a:avLst/>
          </a:prstGeom>
          <a:noFill/>
        </p:spPr>
        <p:txBody>
          <a:bodyPr wrap="square">
            <a:spAutoFit/>
          </a:bodyPr>
          <a:lstStyle/>
          <a:p>
            <a:pPr algn="l"/>
            <a:r>
              <a:rPr sz="1100" b="0" i="0">
                <a:solidFill>
                  <a:srgbClr val="1A1A1A"/>
                </a:solidFill>
              </a:rPr>
              <a:t>Combines gene knockdown with drug treatment to test gene–drug interactions.</a:t>
            </a:r>
          </a:p>
        </p:txBody>
      </p:sp>
      <p:sp>
        <p:nvSpPr>
          <p:cNvPr id="42" name="TextBox 41"/>
          <p:cNvSpPr txBox="1"/>
          <p:nvPr/>
        </p:nvSpPr>
        <p:spPr>
          <a:xfrm>
            <a:off x="6400800" y="4800600"/>
            <a:ext cx="1005840" cy="228600"/>
          </a:xfrm>
          <a:prstGeom prst="rect">
            <a:avLst/>
          </a:prstGeom>
          <a:noFill/>
        </p:spPr>
        <p:txBody>
          <a:bodyPr wrap="square">
            <a:spAutoFit/>
          </a:bodyPr>
          <a:lstStyle/>
          <a:p>
            <a:pPr algn="l"/>
            <a:r>
              <a:rPr sz="1000" b="1" i="0">
                <a:solidFill>
                  <a:srgbClr val="C55A11"/>
                </a:solidFill>
              </a:rPr>
              <a:t>Outputs:</a:t>
            </a:r>
          </a:p>
        </p:txBody>
      </p:sp>
      <p:sp>
        <p:nvSpPr>
          <p:cNvPr id="43" name="TextBox 42"/>
          <p:cNvSpPr txBox="1"/>
          <p:nvPr/>
        </p:nvSpPr>
        <p:spPr>
          <a:xfrm>
            <a:off x="6400800" y="5029200"/>
            <a:ext cx="2606040" cy="1371600"/>
          </a:xfrm>
          <a:prstGeom prst="rect">
            <a:avLst/>
          </a:prstGeom>
          <a:noFill/>
        </p:spPr>
        <p:txBody>
          <a:bodyPr wrap="square">
            <a:spAutoFit/>
          </a:bodyPr>
          <a:lstStyle/>
          <a:p>
            <a:pPr>
              <a:spcBef>
                <a:spcPts val="400"/>
              </a:spcBef>
            </a:pPr>
            <a:r>
              <a:rPr sz="1000">
                <a:solidFill>
                  <a:srgbClr val="1A1A1A"/>
                </a:solidFill>
              </a:rPr>
              <a:t>•  Normalised activity per gene/drug condition</a:t>
            </a:r>
          </a:p>
          <a:p>
            <a:pPr>
              <a:spcBef>
                <a:spcPts val="400"/>
              </a:spcBef>
            </a:pPr>
            <a:r>
              <a:rPr sz="1000">
                <a:solidFill>
                  <a:srgbClr val="1A1A1A"/>
                </a:solidFill>
              </a:rPr>
              <a:t>•  Synergy scoring between genetic and chemical perturbagens</a:t>
            </a:r>
          </a:p>
          <a:p>
            <a:pPr>
              <a:spcBef>
                <a:spcPts val="400"/>
              </a:spcBef>
            </a:pPr>
            <a:r>
              <a:rPr sz="1000">
                <a:solidFill>
                  <a:srgbClr val="1A1A1A"/>
                </a:solidFill>
              </a:rPr>
              <a:t>•  Growth rates for combined conditions</a:t>
            </a:r>
          </a:p>
        </p:txBody>
      </p:sp>
      <p:sp>
        <p:nvSpPr>
          <p:cNvPr id="44" name="TextBox 43"/>
          <p:cNvSpPr txBox="1"/>
          <p:nvPr/>
        </p:nvSpPr>
        <p:spPr>
          <a:xfrm>
            <a:off x="9189720" y="4800600"/>
            <a:ext cx="2286000" cy="228600"/>
          </a:xfrm>
          <a:prstGeom prst="rect">
            <a:avLst/>
          </a:prstGeom>
          <a:noFill/>
        </p:spPr>
        <p:txBody>
          <a:bodyPr wrap="square">
            <a:spAutoFit/>
          </a:bodyPr>
          <a:lstStyle/>
          <a:p>
            <a:pPr algn="l"/>
            <a:r>
              <a:rPr sz="1000" b="1" i="0">
                <a:solidFill>
                  <a:srgbClr val="C55A11"/>
                </a:solidFill>
              </a:rPr>
              <a:t>Datasets run:</a:t>
            </a:r>
          </a:p>
        </p:txBody>
      </p:sp>
      <p:sp>
        <p:nvSpPr>
          <p:cNvPr id="45" name="TextBox 44"/>
          <p:cNvSpPr txBox="1"/>
          <p:nvPr/>
        </p:nvSpPr>
        <p:spPr>
          <a:xfrm>
            <a:off x="9189720" y="5029200"/>
            <a:ext cx="2651760" cy="1371600"/>
          </a:xfrm>
          <a:prstGeom prst="rect">
            <a:avLst/>
          </a:prstGeom>
          <a:noFill/>
        </p:spPr>
        <p:txBody>
          <a:bodyPr wrap="square">
            <a:spAutoFit/>
          </a:bodyPr>
          <a:lstStyle/>
          <a:p>
            <a:pPr>
              <a:spcBef>
                <a:spcPts val="400"/>
              </a:spcBef>
            </a:pPr>
            <a:r>
              <a:rPr sz="1000">
                <a:solidFill>
                  <a:srgbClr val="1A1A1A"/>
                </a:solidFill>
              </a:rPr>
              <a:t>•  1 time point (53 TP)</a:t>
            </a:r>
          </a:p>
          <a:p>
            <a:pPr>
              <a:spcBef>
                <a:spcPts val="400"/>
              </a:spcBef>
            </a:pPr>
            <a:r>
              <a:rPr sz="1000">
                <a:solidFill>
                  <a:srgbClr val="1A1A1A"/>
                </a:solidFill>
              </a:rPr>
              <a:t>•  Several time points (53 TP)</a:t>
            </a:r>
          </a:p>
        </p:txBody>
      </p:sp>
      <p:sp>
        <p:nvSpPr>
          <p:cNvPr id="46" name="Rectangle 45"/>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2 of 7</a:t>
            </a:r>
          </a:p>
        </p:txBody>
      </p:sp>
      <p:sp>
        <p:nvSpPr>
          <p:cNvPr id="48" name="TextBox 47"/>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8046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8046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11704320" cy="502920"/>
          </a:xfrm>
          <a:prstGeom prst="rect">
            <a:avLst/>
          </a:prstGeom>
          <a:noFill/>
        </p:spPr>
        <p:txBody>
          <a:bodyPr wrap="square">
            <a:spAutoFit/>
          </a:bodyPr>
          <a:lstStyle/>
          <a:p>
            <a:pPr algn="l"/>
            <a:r>
              <a:rPr sz="2600" b="1" i="0">
                <a:solidFill>
                  <a:srgbClr val="FFFFFF"/>
                </a:solidFill>
              </a:rPr>
              <a:t>Drug Screen Results — Single Agent Dose-Response</a:t>
            </a:r>
          </a:p>
        </p:txBody>
      </p:sp>
      <p:sp>
        <p:nvSpPr>
          <p:cNvPr id="5" name="TextBox 4"/>
          <p:cNvSpPr txBox="1"/>
          <p:nvPr/>
        </p:nvSpPr>
        <p:spPr>
          <a:xfrm>
            <a:off x="228600" y="548640"/>
            <a:ext cx="11704320" cy="228600"/>
          </a:xfrm>
          <a:prstGeom prst="rect">
            <a:avLst/>
          </a:prstGeom>
          <a:noFill/>
        </p:spPr>
        <p:txBody>
          <a:bodyPr wrap="square">
            <a:spAutoFit/>
          </a:bodyPr>
          <a:lstStyle/>
          <a:p>
            <a:pPr algn="l"/>
            <a:r>
              <a:rPr sz="1200" b="0" i="0">
                <a:solidFill>
                  <a:srgbClr val="BDD7EE"/>
                </a:solidFill>
              </a:rPr>
              <a:t>MK-1775, BAY1895344, Prexasertib  ·  MCF7 cells  ·  10K/well  ·  72 h endpoint</a:t>
            </a:r>
          </a:p>
        </p:txBody>
      </p:sp>
      <p:sp>
        <p:nvSpPr>
          <p:cNvPr id="6" name="Rectangle 5"/>
          <p:cNvSpPr/>
          <p:nvPr/>
        </p:nvSpPr>
        <p:spPr>
          <a:xfrm>
            <a:off x="274320" y="914400"/>
            <a:ext cx="1920240" cy="38404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950976"/>
            <a:ext cx="1828800" cy="310896"/>
          </a:xfrm>
          <a:prstGeom prst="rect">
            <a:avLst/>
          </a:prstGeom>
          <a:noFill/>
        </p:spPr>
        <p:txBody>
          <a:bodyPr wrap="square">
            <a:spAutoFit/>
          </a:bodyPr>
          <a:lstStyle/>
          <a:p>
            <a:pPr algn="ctr"/>
            <a:r>
              <a:rPr sz="1200" b="1" i="0">
                <a:solidFill>
                  <a:srgbClr val="FFFFFF"/>
                </a:solidFill>
              </a:rPr>
              <a:t>Drug</a:t>
            </a:r>
          </a:p>
        </p:txBody>
      </p:sp>
      <p:sp>
        <p:nvSpPr>
          <p:cNvPr id="8" name="Rectangle 7"/>
          <p:cNvSpPr/>
          <p:nvPr/>
        </p:nvSpPr>
        <p:spPr>
          <a:xfrm>
            <a:off x="2212848" y="914400"/>
            <a:ext cx="1371600" cy="38404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67712" y="950976"/>
            <a:ext cx="1280160" cy="310896"/>
          </a:xfrm>
          <a:prstGeom prst="rect">
            <a:avLst/>
          </a:prstGeom>
          <a:noFill/>
        </p:spPr>
        <p:txBody>
          <a:bodyPr wrap="square">
            <a:spAutoFit/>
          </a:bodyPr>
          <a:lstStyle/>
          <a:p>
            <a:pPr algn="ctr"/>
            <a:r>
              <a:rPr sz="1200" b="1" i="0">
                <a:solidFill>
                  <a:srgbClr val="FFFFFF"/>
                </a:solidFill>
              </a:rPr>
              <a:t>IC₅₀ (nM)</a:t>
            </a:r>
          </a:p>
        </p:txBody>
      </p:sp>
      <p:sp>
        <p:nvSpPr>
          <p:cNvPr id="10" name="Rectangle 9"/>
          <p:cNvSpPr/>
          <p:nvPr/>
        </p:nvSpPr>
        <p:spPr>
          <a:xfrm>
            <a:off x="3602736" y="914400"/>
            <a:ext cx="822960" cy="38404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950976"/>
            <a:ext cx="731520" cy="310896"/>
          </a:xfrm>
          <a:prstGeom prst="rect">
            <a:avLst/>
          </a:prstGeom>
          <a:noFill/>
        </p:spPr>
        <p:txBody>
          <a:bodyPr wrap="square">
            <a:spAutoFit/>
          </a:bodyPr>
          <a:lstStyle/>
          <a:p>
            <a:pPr algn="ctr"/>
            <a:r>
              <a:rPr sz="1200" b="1" i="0">
                <a:solidFill>
                  <a:srgbClr val="FFFFFF"/>
                </a:solidFill>
              </a:rPr>
              <a:t>R²</a:t>
            </a:r>
          </a:p>
        </p:txBody>
      </p:sp>
      <p:sp>
        <p:nvSpPr>
          <p:cNvPr id="12" name="Rectangle 11"/>
          <p:cNvSpPr/>
          <p:nvPr/>
        </p:nvSpPr>
        <p:spPr>
          <a:xfrm>
            <a:off x="4443984" y="914400"/>
            <a:ext cx="914400" cy="38404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950976"/>
            <a:ext cx="822960" cy="310896"/>
          </a:xfrm>
          <a:prstGeom prst="rect">
            <a:avLst/>
          </a:prstGeom>
          <a:noFill/>
        </p:spPr>
        <p:txBody>
          <a:bodyPr wrap="square">
            <a:spAutoFit/>
          </a:bodyPr>
          <a:lstStyle/>
          <a:p>
            <a:pPr algn="ctr"/>
            <a:r>
              <a:rPr sz="1200" b="1" i="0">
                <a:solidFill>
                  <a:srgbClr val="FFFFFF"/>
                </a:solidFill>
              </a:rPr>
              <a:t>Fit</a:t>
            </a:r>
          </a:p>
        </p:txBody>
      </p:sp>
      <p:sp>
        <p:nvSpPr>
          <p:cNvPr id="14" name="Rectangle 13"/>
          <p:cNvSpPr/>
          <p:nvPr/>
        </p:nvSpPr>
        <p:spPr>
          <a:xfrm>
            <a:off x="5376672" y="914400"/>
            <a:ext cx="2286000" cy="38404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31536" y="950976"/>
            <a:ext cx="2194560" cy="310896"/>
          </a:xfrm>
          <a:prstGeom prst="rect">
            <a:avLst/>
          </a:prstGeom>
          <a:noFill/>
        </p:spPr>
        <p:txBody>
          <a:bodyPr wrap="square">
            <a:spAutoFit/>
          </a:bodyPr>
          <a:lstStyle/>
          <a:p>
            <a:pPr algn="ctr"/>
            <a:r>
              <a:rPr sz="1200" b="1" i="0">
                <a:solidFill>
                  <a:srgbClr val="FFFFFF"/>
                </a:solidFill>
              </a:rPr>
              <a:t>Notes</a:t>
            </a:r>
          </a:p>
        </p:txBody>
      </p:sp>
      <p:sp>
        <p:nvSpPr>
          <p:cNvPr id="16" name="Rectangle 15"/>
          <p:cNvSpPr/>
          <p:nvPr/>
        </p:nvSpPr>
        <p:spPr>
          <a:xfrm>
            <a:off x="274320" y="1298448"/>
            <a:ext cx="1920240" cy="566928"/>
          </a:xfrm>
          <a:prstGeom prst="rect">
            <a:avLst/>
          </a:prstGeom>
          <a:solidFill>
            <a:srgbClr val="E2EFDA"/>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 y="1353312"/>
            <a:ext cx="1810512" cy="475488"/>
          </a:xfrm>
          <a:prstGeom prst="rect">
            <a:avLst/>
          </a:prstGeom>
          <a:noFill/>
        </p:spPr>
        <p:txBody>
          <a:bodyPr wrap="square">
            <a:spAutoFit/>
          </a:bodyPr>
          <a:lstStyle/>
          <a:p>
            <a:pPr algn="l"/>
            <a:r>
              <a:rPr sz="1200" b="1" i="0">
                <a:solidFill>
                  <a:srgbClr val="379637"/>
                </a:solidFill>
              </a:rPr>
              <a:t>Prexasertib</a:t>
            </a:r>
          </a:p>
        </p:txBody>
      </p:sp>
      <p:sp>
        <p:nvSpPr>
          <p:cNvPr id="18" name="Rectangle 17"/>
          <p:cNvSpPr/>
          <p:nvPr/>
        </p:nvSpPr>
        <p:spPr>
          <a:xfrm>
            <a:off x="2212848" y="1298448"/>
            <a:ext cx="1371600" cy="566928"/>
          </a:xfrm>
          <a:prstGeom prst="rect">
            <a:avLst/>
          </a:prstGeom>
          <a:solidFill>
            <a:srgbClr val="E2EFDA"/>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76856" y="1353312"/>
            <a:ext cx="1261872" cy="475488"/>
          </a:xfrm>
          <a:prstGeom prst="rect">
            <a:avLst/>
          </a:prstGeom>
          <a:noFill/>
        </p:spPr>
        <p:txBody>
          <a:bodyPr wrap="square">
            <a:spAutoFit/>
          </a:bodyPr>
          <a:lstStyle/>
          <a:p>
            <a:pPr algn="ctr"/>
            <a:r>
              <a:rPr sz="1300" b="0" i="0">
                <a:solidFill>
                  <a:srgbClr val="1A1A1A"/>
                </a:solidFill>
              </a:rPr>
              <a:t>9.98</a:t>
            </a:r>
          </a:p>
        </p:txBody>
      </p:sp>
      <p:sp>
        <p:nvSpPr>
          <p:cNvPr id="20" name="Rectangle 19"/>
          <p:cNvSpPr/>
          <p:nvPr/>
        </p:nvSpPr>
        <p:spPr>
          <a:xfrm>
            <a:off x="3602736" y="1298448"/>
            <a:ext cx="822960" cy="566928"/>
          </a:xfrm>
          <a:prstGeom prst="rect">
            <a:avLst/>
          </a:prstGeom>
          <a:solidFill>
            <a:srgbClr val="E2EFDA"/>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66744" y="1353312"/>
            <a:ext cx="713232" cy="475488"/>
          </a:xfrm>
          <a:prstGeom prst="rect">
            <a:avLst/>
          </a:prstGeom>
          <a:noFill/>
        </p:spPr>
        <p:txBody>
          <a:bodyPr wrap="square">
            <a:spAutoFit/>
          </a:bodyPr>
          <a:lstStyle/>
          <a:p>
            <a:pPr algn="ctr"/>
            <a:r>
              <a:rPr sz="1100" b="0" i="0">
                <a:solidFill>
                  <a:srgbClr val="1A1A1A"/>
                </a:solidFill>
              </a:rPr>
              <a:t>0.967</a:t>
            </a:r>
          </a:p>
        </p:txBody>
      </p:sp>
      <p:sp>
        <p:nvSpPr>
          <p:cNvPr id="22" name="Rectangle 21"/>
          <p:cNvSpPr/>
          <p:nvPr/>
        </p:nvSpPr>
        <p:spPr>
          <a:xfrm>
            <a:off x="4443984" y="1298448"/>
            <a:ext cx="914400" cy="566928"/>
          </a:xfrm>
          <a:prstGeom prst="rect">
            <a:avLst/>
          </a:prstGeom>
          <a:solidFill>
            <a:srgbClr val="E2EFDA"/>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07992" y="1353312"/>
            <a:ext cx="804672" cy="475488"/>
          </a:xfrm>
          <a:prstGeom prst="rect">
            <a:avLst/>
          </a:prstGeom>
          <a:noFill/>
        </p:spPr>
        <p:txBody>
          <a:bodyPr wrap="square">
            <a:spAutoFit/>
          </a:bodyPr>
          <a:lstStyle/>
          <a:p>
            <a:pPr algn="ctr"/>
            <a:r>
              <a:rPr sz="1100" b="0" i="0">
                <a:solidFill>
                  <a:srgbClr val="1A1A1A"/>
                </a:solidFill>
              </a:rPr>
              <a:t>Good</a:t>
            </a:r>
          </a:p>
        </p:txBody>
      </p:sp>
      <p:sp>
        <p:nvSpPr>
          <p:cNvPr id="24" name="Rectangle 23"/>
          <p:cNvSpPr/>
          <p:nvPr/>
        </p:nvSpPr>
        <p:spPr>
          <a:xfrm>
            <a:off x="5376672" y="1298448"/>
            <a:ext cx="2286000" cy="566928"/>
          </a:xfrm>
          <a:prstGeom prst="rect">
            <a:avLst/>
          </a:prstGeom>
          <a:solidFill>
            <a:srgbClr val="E2EFDA"/>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40680" y="1353312"/>
            <a:ext cx="2176272" cy="475488"/>
          </a:xfrm>
          <a:prstGeom prst="rect">
            <a:avLst/>
          </a:prstGeom>
          <a:noFill/>
        </p:spPr>
        <p:txBody>
          <a:bodyPr wrap="square">
            <a:spAutoFit/>
          </a:bodyPr>
          <a:lstStyle/>
          <a:p>
            <a:pPr algn="l"/>
            <a:r>
              <a:rPr sz="1100" b="0" i="0">
                <a:solidFill>
                  <a:srgbClr val="1A1A1A"/>
                </a:solidFill>
              </a:rPr>
              <a:t>Curve plateaus at ~40–50%
— partial inhibition in tested range</a:t>
            </a:r>
          </a:p>
        </p:txBody>
      </p:sp>
      <p:sp>
        <p:nvSpPr>
          <p:cNvPr id="26" name="Rectangle 25"/>
          <p:cNvSpPr/>
          <p:nvPr/>
        </p:nvSpPr>
        <p:spPr>
          <a:xfrm>
            <a:off x="274320" y="1892807"/>
            <a:ext cx="1920240" cy="566928"/>
          </a:xfrm>
          <a:prstGeom prst="rect">
            <a:avLst/>
          </a:prstGeom>
          <a:solidFill>
            <a:srgbClr val="F2F2F2"/>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 y="1947672"/>
            <a:ext cx="1810512" cy="475488"/>
          </a:xfrm>
          <a:prstGeom prst="rect">
            <a:avLst/>
          </a:prstGeom>
          <a:noFill/>
        </p:spPr>
        <p:txBody>
          <a:bodyPr wrap="square">
            <a:spAutoFit/>
          </a:bodyPr>
          <a:lstStyle/>
          <a:p>
            <a:pPr algn="l"/>
            <a:r>
              <a:rPr sz="1200" b="1" i="0">
                <a:solidFill>
                  <a:srgbClr val="1A1A1A"/>
                </a:solidFill>
              </a:rPr>
              <a:t>BAY1895344</a:t>
            </a:r>
          </a:p>
        </p:txBody>
      </p:sp>
      <p:sp>
        <p:nvSpPr>
          <p:cNvPr id="28" name="Rectangle 27"/>
          <p:cNvSpPr/>
          <p:nvPr/>
        </p:nvSpPr>
        <p:spPr>
          <a:xfrm>
            <a:off x="2212848" y="1892807"/>
            <a:ext cx="1371600" cy="566928"/>
          </a:xfrm>
          <a:prstGeom prst="rect">
            <a:avLst/>
          </a:prstGeom>
          <a:solidFill>
            <a:srgbClr val="F2F2F2"/>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76856" y="1947672"/>
            <a:ext cx="1261872" cy="475488"/>
          </a:xfrm>
          <a:prstGeom prst="rect">
            <a:avLst/>
          </a:prstGeom>
          <a:noFill/>
        </p:spPr>
        <p:txBody>
          <a:bodyPr wrap="square">
            <a:spAutoFit/>
          </a:bodyPr>
          <a:lstStyle/>
          <a:p>
            <a:pPr algn="ctr"/>
            <a:r>
              <a:rPr sz="1300" b="0" i="0">
                <a:solidFill>
                  <a:srgbClr val="1A1A1A"/>
                </a:solidFill>
              </a:rPr>
              <a:t>272.87</a:t>
            </a:r>
          </a:p>
        </p:txBody>
      </p:sp>
      <p:sp>
        <p:nvSpPr>
          <p:cNvPr id="30" name="Rectangle 29"/>
          <p:cNvSpPr/>
          <p:nvPr/>
        </p:nvSpPr>
        <p:spPr>
          <a:xfrm>
            <a:off x="3602736" y="1892807"/>
            <a:ext cx="822960" cy="566928"/>
          </a:xfrm>
          <a:prstGeom prst="rect">
            <a:avLst/>
          </a:prstGeom>
          <a:solidFill>
            <a:srgbClr val="F2F2F2"/>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66744" y="1947672"/>
            <a:ext cx="713232" cy="475488"/>
          </a:xfrm>
          <a:prstGeom prst="rect">
            <a:avLst/>
          </a:prstGeom>
          <a:noFill/>
        </p:spPr>
        <p:txBody>
          <a:bodyPr wrap="square">
            <a:spAutoFit/>
          </a:bodyPr>
          <a:lstStyle/>
          <a:p>
            <a:pPr algn="ctr"/>
            <a:r>
              <a:rPr sz="1100" b="0" i="0">
                <a:solidFill>
                  <a:srgbClr val="1A1A1A"/>
                </a:solidFill>
              </a:rPr>
              <a:t>0.957</a:t>
            </a:r>
          </a:p>
        </p:txBody>
      </p:sp>
      <p:sp>
        <p:nvSpPr>
          <p:cNvPr id="32" name="Rectangle 31"/>
          <p:cNvSpPr/>
          <p:nvPr/>
        </p:nvSpPr>
        <p:spPr>
          <a:xfrm>
            <a:off x="4443984" y="1892807"/>
            <a:ext cx="914400" cy="566928"/>
          </a:xfrm>
          <a:prstGeom prst="rect">
            <a:avLst/>
          </a:prstGeom>
          <a:solidFill>
            <a:srgbClr val="F2F2F2"/>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07992" y="1947672"/>
            <a:ext cx="804672" cy="475488"/>
          </a:xfrm>
          <a:prstGeom prst="rect">
            <a:avLst/>
          </a:prstGeom>
          <a:noFill/>
        </p:spPr>
        <p:txBody>
          <a:bodyPr wrap="square">
            <a:spAutoFit/>
          </a:bodyPr>
          <a:lstStyle/>
          <a:p>
            <a:pPr algn="ctr"/>
            <a:r>
              <a:rPr sz="1100" b="0" i="0">
                <a:solidFill>
                  <a:srgbClr val="1A1A1A"/>
                </a:solidFill>
              </a:rPr>
              <a:t>Good</a:t>
            </a:r>
          </a:p>
        </p:txBody>
      </p:sp>
      <p:sp>
        <p:nvSpPr>
          <p:cNvPr id="34" name="Rectangle 33"/>
          <p:cNvSpPr/>
          <p:nvPr/>
        </p:nvSpPr>
        <p:spPr>
          <a:xfrm>
            <a:off x="5376672" y="1892807"/>
            <a:ext cx="2286000" cy="566928"/>
          </a:xfrm>
          <a:prstGeom prst="rect">
            <a:avLst/>
          </a:prstGeom>
          <a:solidFill>
            <a:srgbClr val="F2F2F2"/>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0680" y="1947672"/>
            <a:ext cx="2176272" cy="475488"/>
          </a:xfrm>
          <a:prstGeom prst="rect">
            <a:avLst/>
          </a:prstGeom>
          <a:noFill/>
        </p:spPr>
        <p:txBody>
          <a:bodyPr wrap="square">
            <a:spAutoFit/>
          </a:bodyPr>
          <a:lstStyle/>
          <a:p>
            <a:pPr algn="l"/>
            <a:r>
              <a:rPr sz="1100" b="0" i="0">
                <a:solidFill>
                  <a:srgbClr val="1A1A1A"/>
                </a:solidFill>
              </a:rPr>
              <a:t>Full inhibition achieved
at high concentrations</a:t>
            </a:r>
          </a:p>
        </p:txBody>
      </p:sp>
      <p:sp>
        <p:nvSpPr>
          <p:cNvPr id="36" name="Rectangle 35"/>
          <p:cNvSpPr/>
          <p:nvPr/>
        </p:nvSpPr>
        <p:spPr>
          <a:xfrm>
            <a:off x="274320" y="2487168"/>
            <a:ext cx="1920240" cy="566928"/>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8328" y="2542032"/>
            <a:ext cx="1810512" cy="475488"/>
          </a:xfrm>
          <a:prstGeom prst="rect">
            <a:avLst/>
          </a:prstGeom>
          <a:noFill/>
        </p:spPr>
        <p:txBody>
          <a:bodyPr wrap="square">
            <a:spAutoFit/>
          </a:bodyPr>
          <a:lstStyle/>
          <a:p>
            <a:pPr algn="l"/>
            <a:r>
              <a:rPr sz="1200" b="1" i="0">
                <a:solidFill>
                  <a:srgbClr val="1A1A1A"/>
                </a:solidFill>
              </a:rPr>
              <a:t>MK-1775</a:t>
            </a:r>
          </a:p>
        </p:txBody>
      </p:sp>
      <p:sp>
        <p:nvSpPr>
          <p:cNvPr id="38" name="Rectangle 37"/>
          <p:cNvSpPr/>
          <p:nvPr/>
        </p:nvSpPr>
        <p:spPr>
          <a:xfrm>
            <a:off x="2212848" y="2487168"/>
            <a:ext cx="1371600" cy="566928"/>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76856" y="2542032"/>
            <a:ext cx="1261872" cy="475488"/>
          </a:xfrm>
          <a:prstGeom prst="rect">
            <a:avLst/>
          </a:prstGeom>
          <a:noFill/>
        </p:spPr>
        <p:txBody>
          <a:bodyPr wrap="square">
            <a:spAutoFit/>
          </a:bodyPr>
          <a:lstStyle/>
          <a:p>
            <a:pPr algn="ctr"/>
            <a:r>
              <a:rPr sz="1300" b="0" i="0">
                <a:solidFill>
                  <a:srgbClr val="1A1A1A"/>
                </a:solidFill>
              </a:rPr>
              <a:t>657.30</a:t>
            </a:r>
          </a:p>
        </p:txBody>
      </p:sp>
      <p:sp>
        <p:nvSpPr>
          <p:cNvPr id="40" name="Rectangle 39"/>
          <p:cNvSpPr/>
          <p:nvPr/>
        </p:nvSpPr>
        <p:spPr>
          <a:xfrm>
            <a:off x="3602736" y="2487168"/>
            <a:ext cx="822960" cy="566928"/>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66744" y="2542032"/>
            <a:ext cx="713232" cy="475488"/>
          </a:xfrm>
          <a:prstGeom prst="rect">
            <a:avLst/>
          </a:prstGeom>
          <a:noFill/>
        </p:spPr>
        <p:txBody>
          <a:bodyPr wrap="square">
            <a:spAutoFit/>
          </a:bodyPr>
          <a:lstStyle/>
          <a:p>
            <a:pPr algn="ctr"/>
            <a:r>
              <a:rPr sz="1100" b="0" i="0">
                <a:solidFill>
                  <a:srgbClr val="1A1A1A"/>
                </a:solidFill>
              </a:rPr>
              <a:t>0.989</a:t>
            </a:r>
          </a:p>
        </p:txBody>
      </p:sp>
      <p:sp>
        <p:nvSpPr>
          <p:cNvPr id="42" name="Rectangle 41"/>
          <p:cNvSpPr/>
          <p:nvPr/>
        </p:nvSpPr>
        <p:spPr>
          <a:xfrm>
            <a:off x="4443984" y="2487168"/>
            <a:ext cx="914400" cy="566928"/>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07992" y="2542032"/>
            <a:ext cx="804672" cy="475488"/>
          </a:xfrm>
          <a:prstGeom prst="rect">
            <a:avLst/>
          </a:prstGeom>
          <a:noFill/>
        </p:spPr>
        <p:txBody>
          <a:bodyPr wrap="square">
            <a:spAutoFit/>
          </a:bodyPr>
          <a:lstStyle/>
          <a:p>
            <a:pPr algn="ctr"/>
            <a:r>
              <a:rPr sz="1100" b="0" i="0">
                <a:solidFill>
                  <a:srgbClr val="1A1A1A"/>
                </a:solidFill>
              </a:rPr>
              <a:t>Excellent</a:t>
            </a:r>
          </a:p>
        </p:txBody>
      </p:sp>
      <p:sp>
        <p:nvSpPr>
          <p:cNvPr id="44" name="Rectangle 43"/>
          <p:cNvSpPr/>
          <p:nvPr/>
        </p:nvSpPr>
        <p:spPr>
          <a:xfrm>
            <a:off x="5376672" y="2487168"/>
            <a:ext cx="2286000" cy="566928"/>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0680" y="2542032"/>
            <a:ext cx="2176272" cy="475488"/>
          </a:xfrm>
          <a:prstGeom prst="rect">
            <a:avLst/>
          </a:prstGeom>
          <a:noFill/>
        </p:spPr>
        <p:txBody>
          <a:bodyPr wrap="square">
            <a:spAutoFit/>
          </a:bodyPr>
          <a:lstStyle/>
          <a:p>
            <a:pPr algn="l"/>
            <a:r>
              <a:rPr sz="1100" b="0" i="0">
                <a:solidFill>
                  <a:srgbClr val="1A1A1A"/>
                </a:solidFill>
              </a:rPr>
              <a:t>Cleanest sigmoidal fit;
highest R² of the three</a:t>
            </a:r>
          </a:p>
        </p:txBody>
      </p:sp>
      <p:sp>
        <p:nvSpPr>
          <p:cNvPr id="46" name="Rectangle 45"/>
          <p:cNvSpPr/>
          <p:nvPr/>
        </p:nvSpPr>
        <p:spPr>
          <a:xfrm>
            <a:off x="7726679" y="1298448"/>
            <a:ext cx="1280160" cy="384048"/>
          </a:xfrm>
          <a:prstGeom prst="rect">
            <a:avLst/>
          </a:prstGeom>
          <a:solidFill>
            <a:srgbClr val="3796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44968" y="1316736"/>
            <a:ext cx="1243584" cy="347472"/>
          </a:xfrm>
          <a:prstGeom prst="rect">
            <a:avLst/>
          </a:prstGeom>
          <a:noFill/>
        </p:spPr>
        <p:txBody>
          <a:bodyPr wrap="square">
            <a:spAutoFit/>
          </a:bodyPr>
          <a:lstStyle/>
          <a:p>
            <a:pPr algn="ctr"/>
            <a:r>
              <a:rPr sz="1000" b="1" i="0">
                <a:solidFill>
                  <a:srgbClr val="FFFFFF"/>
                </a:solidFill>
              </a:rPr>
              <a:t>★  Most Potent</a:t>
            </a:r>
          </a:p>
        </p:txBody>
      </p:sp>
      <p:sp>
        <p:nvSpPr>
          <p:cNvPr id="48" name="Rectangle 47"/>
          <p:cNvSpPr/>
          <p:nvPr/>
        </p:nvSpPr>
        <p:spPr>
          <a:xfrm>
            <a:off x="274320" y="3154680"/>
            <a:ext cx="7406640" cy="3246120"/>
          </a:xfrm>
          <a:prstGeom prst="rect">
            <a:avLst/>
          </a:prstGeom>
          <a:solidFill>
            <a:srgbClr val="F5F9FF"/>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218688"/>
            <a:ext cx="3657600" cy="320040"/>
          </a:xfrm>
          <a:prstGeom prst="rect">
            <a:avLst/>
          </a:prstGeom>
          <a:noFill/>
        </p:spPr>
        <p:txBody>
          <a:bodyPr wrap="square">
            <a:spAutoFit/>
          </a:bodyPr>
          <a:lstStyle/>
          <a:p>
            <a:pPr algn="l"/>
            <a:r>
              <a:rPr sz="1400" b="1" i="0">
                <a:solidFill>
                  <a:srgbClr val="1A375E"/>
                </a:solidFill>
              </a:rPr>
              <a:t>Key Findings</a:t>
            </a:r>
          </a:p>
        </p:txBody>
      </p:sp>
      <p:sp>
        <p:nvSpPr>
          <p:cNvPr id="50" name="Rectangle 49"/>
          <p:cNvSpPr/>
          <p:nvPr/>
        </p:nvSpPr>
        <p:spPr>
          <a:xfrm>
            <a:off x="5120640" y="3200400"/>
            <a:ext cx="2331720" cy="292608"/>
          </a:xfrm>
          <a:prstGeom prst="rect">
            <a:avLst/>
          </a:prstGeom>
          <a:solidFill>
            <a:srgbClr val="5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792" y="3236976"/>
            <a:ext cx="2221991" cy="237744"/>
          </a:xfrm>
          <a:prstGeom prst="rect">
            <a:avLst/>
          </a:prstGeom>
          <a:noFill/>
        </p:spPr>
        <p:txBody>
          <a:bodyPr wrap="square">
            <a:spAutoFit/>
          </a:bodyPr>
          <a:lstStyle/>
          <a:p>
            <a:pPr algn="l"/>
            <a:r>
              <a:rPr sz="1000" b="1" i="0">
                <a:solidFill>
                  <a:srgbClr val="FFFFFF"/>
                </a:solidFill>
              </a:rPr>
              <a:t>🤖  AI-Assisted Interpretation</a:t>
            </a:r>
          </a:p>
        </p:txBody>
      </p:sp>
      <p:sp>
        <p:nvSpPr>
          <p:cNvPr id="52" name="TextBox 51"/>
          <p:cNvSpPr txBox="1"/>
          <p:nvPr/>
        </p:nvSpPr>
        <p:spPr>
          <a:xfrm>
            <a:off x="457200" y="3611880"/>
            <a:ext cx="7040880" cy="2560320"/>
          </a:xfrm>
          <a:prstGeom prst="rect">
            <a:avLst/>
          </a:prstGeom>
          <a:noFill/>
        </p:spPr>
        <p:txBody>
          <a:bodyPr wrap="square">
            <a:spAutoFit/>
          </a:bodyPr>
          <a:lstStyle/>
          <a:p>
            <a:pPr>
              <a:spcBef>
                <a:spcPts val="400"/>
              </a:spcBef>
            </a:pPr>
            <a:r>
              <a:rPr sz="1100">
                <a:solidFill>
                  <a:srgbClr val="1A1A1A"/>
                </a:solidFill>
              </a:rPr>
              <a:t>▶  Prexasertib is the most potent agent — IC₅₀ ≈ 10 nM, roughly 27× more potent than BAY1895344 and 66× more potent than MK-1775.</a:t>
            </a:r>
          </a:p>
          <a:p>
            <a:pPr>
              <a:spcBef>
                <a:spcPts val="400"/>
              </a:spcBef>
            </a:pPr>
            <a:r>
              <a:rPr sz="1100">
                <a:solidFill>
                  <a:srgbClr val="1A1A1A"/>
                </a:solidFill>
              </a:rPr>
              <a:t>▶  Prexasertib's dose-response curve did not reach complete inhibition (plateaus at ~40–50%), suggesting a cytostatic rather than cytotoxic effect at the concentrations tested.</a:t>
            </a:r>
          </a:p>
          <a:p>
            <a:pPr>
              <a:spcBef>
                <a:spcPts val="400"/>
              </a:spcBef>
            </a:pPr>
            <a:r>
              <a:rPr sz="1100">
                <a:solidFill>
                  <a:srgbClr val="1A1A1A"/>
                </a:solidFill>
              </a:rPr>
              <a:t>▶  MK-1775 produced the cleanest curve fit (R² = 0.989), indicating a reliable, well-defined sigmoidal dose-response relationship.</a:t>
            </a:r>
          </a:p>
          <a:p>
            <a:pPr>
              <a:spcBef>
                <a:spcPts val="400"/>
              </a:spcBef>
            </a:pPr>
            <a:r>
              <a:rPr sz="1100">
                <a:solidFill>
                  <a:srgbClr val="1A1A1A"/>
                </a:solidFill>
              </a:rPr>
              <a:t>▶  Multi-timepoint analysis (37 time points, 74 h) confirmed that potency increases over time for all three drugs, as captured by the growth rate metric.</a:t>
            </a:r>
          </a:p>
          <a:p>
            <a:pPr>
              <a:spcBef>
                <a:spcPts val="400"/>
              </a:spcBef>
            </a:pPr>
            <a:r>
              <a:rPr sz="1100">
                <a:solidFill>
                  <a:srgbClr val="1A1A1A"/>
                </a:solidFill>
              </a:rPr>
              <a:t>▶  Single biological replicate — results should be interpreted with caution and validated with additional replicates.</a:t>
            </a:r>
          </a:p>
        </p:txBody>
      </p:sp>
      <p:sp>
        <p:nvSpPr>
          <p:cNvPr id="53" name="TextBox 52"/>
          <p:cNvSpPr txBox="1"/>
          <p:nvPr/>
        </p:nvSpPr>
        <p:spPr>
          <a:xfrm>
            <a:off x="7863840" y="3218688"/>
            <a:ext cx="4114800" cy="292608"/>
          </a:xfrm>
          <a:prstGeom prst="rect">
            <a:avLst/>
          </a:prstGeom>
          <a:noFill/>
        </p:spPr>
        <p:txBody>
          <a:bodyPr wrap="square">
            <a:spAutoFit/>
          </a:bodyPr>
          <a:lstStyle/>
          <a:p>
            <a:pPr algn="l"/>
            <a:r>
              <a:rPr sz="1300" b="1" i="0">
                <a:solidFill>
                  <a:srgbClr val="1A375E"/>
                </a:solidFill>
              </a:rPr>
              <a:t>Relative Potency</a:t>
            </a:r>
          </a:p>
        </p:txBody>
      </p:sp>
      <p:sp>
        <p:nvSpPr>
          <p:cNvPr id="54" name="TextBox 53"/>
          <p:cNvSpPr txBox="1"/>
          <p:nvPr/>
        </p:nvSpPr>
        <p:spPr>
          <a:xfrm>
            <a:off x="7863840" y="3611880"/>
            <a:ext cx="2011680" cy="274320"/>
          </a:xfrm>
          <a:prstGeom prst="rect">
            <a:avLst/>
          </a:prstGeom>
          <a:noFill/>
        </p:spPr>
        <p:txBody>
          <a:bodyPr wrap="square">
            <a:spAutoFit/>
          </a:bodyPr>
          <a:lstStyle/>
          <a:p>
            <a:pPr algn="l"/>
            <a:r>
              <a:rPr sz="1100" b="1" i="0">
                <a:solidFill>
                  <a:srgbClr val="379637"/>
                </a:solidFill>
              </a:rPr>
              <a:t>Prexasertib</a:t>
            </a:r>
          </a:p>
        </p:txBody>
      </p:sp>
      <p:sp>
        <p:nvSpPr>
          <p:cNvPr id="55" name="Rectangle 54"/>
          <p:cNvSpPr/>
          <p:nvPr/>
        </p:nvSpPr>
        <p:spPr>
          <a:xfrm>
            <a:off x="7863840" y="3913632"/>
            <a:ext cx="56922" cy="347472"/>
          </a:xfrm>
          <a:prstGeom prst="rect">
            <a:avLst/>
          </a:prstGeom>
          <a:solidFill>
            <a:srgbClr val="3796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93914" y="3941064"/>
            <a:ext cx="1645920" cy="274320"/>
          </a:xfrm>
          <a:prstGeom prst="rect">
            <a:avLst/>
          </a:prstGeom>
          <a:noFill/>
        </p:spPr>
        <p:txBody>
          <a:bodyPr wrap="square">
            <a:spAutoFit/>
          </a:bodyPr>
          <a:lstStyle/>
          <a:p>
            <a:pPr algn="l"/>
            <a:r>
              <a:rPr sz="1000" b="1" i="0">
                <a:solidFill>
                  <a:srgbClr val="379637"/>
                </a:solidFill>
              </a:rPr>
              <a:t>IC₅₀ = 9.98 nM</a:t>
            </a:r>
          </a:p>
        </p:txBody>
      </p:sp>
      <p:sp>
        <p:nvSpPr>
          <p:cNvPr id="57" name="TextBox 56"/>
          <p:cNvSpPr txBox="1"/>
          <p:nvPr/>
        </p:nvSpPr>
        <p:spPr>
          <a:xfrm>
            <a:off x="7863840" y="4572000"/>
            <a:ext cx="2011680" cy="274320"/>
          </a:xfrm>
          <a:prstGeom prst="rect">
            <a:avLst/>
          </a:prstGeom>
          <a:noFill/>
        </p:spPr>
        <p:txBody>
          <a:bodyPr wrap="square">
            <a:spAutoFit/>
          </a:bodyPr>
          <a:lstStyle/>
          <a:p>
            <a:pPr algn="l"/>
            <a:r>
              <a:rPr sz="1100" b="1" i="0">
                <a:solidFill>
                  <a:srgbClr val="2E75B6"/>
                </a:solidFill>
              </a:rPr>
              <a:t>BAY1895344</a:t>
            </a:r>
          </a:p>
        </p:txBody>
      </p:sp>
      <p:sp>
        <p:nvSpPr>
          <p:cNvPr id="58" name="Rectangle 57"/>
          <p:cNvSpPr/>
          <p:nvPr/>
        </p:nvSpPr>
        <p:spPr>
          <a:xfrm>
            <a:off x="7863840" y="4873752"/>
            <a:ext cx="1556367" cy="3474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493359" y="4901184"/>
            <a:ext cx="1645920" cy="274320"/>
          </a:xfrm>
          <a:prstGeom prst="rect">
            <a:avLst/>
          </a:prstGeom>
          <a:noFill/>
        </p:spPr>
        <p:txBody>
          <a:bodyPr wrap="square">
            <a:spAutoFit/>
          </a:bodyPr>
          <a:lstStyle/>
          <a:p>
            <a:pPr algn="l"/>
            <a:r>
              <a:rPr sz="1000" b="1" i="0">
                <a:solidFill>
                  <a:srgbClr val="2E75B6"/>
                </a:solidFill>
              </a:rPr>
              <a:t>IC₅₀ = 272.87 nM</a:t>
            </a:r>
          </a:p>
        </p:txBody>
      </p:sp>
      <p:sp>
        <p:nvSpPr>
          <p:cNvPr id="60" name="TextBox 59"/>
          <p:cNvSpPr txBox="1"/>
          <p:nvPr/>
        </p:nvSpPr>
        <p:spPr>
          <a:xfrm>
            <a:off x="7863840" y="5532120"/>
            <a:ext cx="2011680" cy="274320"/>
          </a:xfrm>
          <a:prstGeom prst="rect">
            <a:avLst/>
          </a:prstGeom>
          <a:noFill/>
        </p:spPr>
        <p:txBody>
          <a:bodyPr wrap="square">
            <a:spAutoFit/>
          </a:bodyPr>
          <a:lstStyle/>
          <a:p>
            <a:pPr algn="l"/>
            <a:r>
              <a:rPr sz="1100" b="1" i="0">
                <a:solidFill>
                  <a:srgbClr val="1A375E"/>
                </a:solidFill>
              </a:rPr>
              <a:t>MK-1775</a:t>
            </a:r>
          </a:p>
        </p:txBody>
      </p:sp>
      <p:sp>
        <p:nvSpPr>
          <p:cNvPr id="61" name="Rectangle 60"/>
          <p:cNvSpPr/>
          <p:nvPr/>
        </p:nvSpPr>
        <p:spPr>
          <a:xfrm>
            <a:off x="7863840" y="5833872"/>
            <a:ext cx="3749039" cy="3474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686032" y="5861304"/>
            <a:ext cx="1645920" cy="274320"/>
          </a:xfrm>
          <a:prstGeom prst="rect">
            <a:avLst/>
          </a:prstGeom>
          <a:noFill/>
        </p:spPr>
        <p:txBody>
          <a:bodyPr wrap="square">
            <a:spAutoFit/>
          </a:bodyPr>
          <a:lstStyle/>
          <a:p>
            <a:pPr algn="l"/>
            <a:r>
              <a:rPr sz="1000" b="1" i="0">
                <a:solidFill>
                  <a:srgbClr val="1A375E"/>
                </a:solidFill>
              </a:rPr>
              <a:t>IC₅₀ = 657.3 nM</a:t>
            </a:r>
          </a:p>
        </p:txBody>
      </p:sp>
      <p:sp>
        <p:nvSpPr>
          <p:cNvPr id="63" name="Rectangle 62"/>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3 of 7</a:t>
            </a:r>
          </a:p>
        </p:txBody>
      </p:sp>
      <p:sp>
        <p:nvSpPr>
          <p:cNvPr id="65" name="TextBox 64"/>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8046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8046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11704320" cy="502920"/>
          </a:xfrm>
          <a:prstGeom prst="rect">
            <a:avLst/>
          </a:prstGeom>
          <a:noFill/>
        </p:spPr>
        <p:txBody>
          <a:bodyPr wrap="square">
            <a:spAutoFit/>
          </a:bodyPr>
          <a:lstStyle/>
          <a:p>
            <a:pPr algn="l"/>
            <a:r>
              <a:rPr sz="2600" b="1" i="0">
                <a:solidFill>
                  <a:srgbClr val="FFFFFF"/>
                </a:solidFill>
              </a:rPr>
              <a:t>Drug Combination: MK-1775 + Prexasertib — Bliss Independence Model</a:t>
            </a:r>
          </a:p>
        </p:txBody>
      </p:sp>
      <p:sp>
        <p:nvSpPr>
          <p:cNvPr id="5" name="TextBox 4"/>
          <p:cNvSpPr txBox="1"/>
          <p:nvPr/>
        </p:nvSpPr>
        <p:spPr>
          <a:xfrm>
            <a:off x="228600" y="548640"/>
            <a:ext cx="11704320" cy="228600"/>
          </a:xfrm>
          <a:prstGeom prst="rect">
            <a:avLst/>
          </a:prstGeom>
          <a:noFill/>
        </p:spPr>
        <p:txBody>
          <a:bodyPr wrap="square">
            <a:spAutoFit/>
          </a:bodyPr>
          <a:lstStyle/>
          <a:p>
            <a:pPr algn="l"/>
            <a:r>
              <a:rPr sz="1200" b="0" i="0">
                <a:solidFill>
                  <a:srgbClr val="BDD7EE"/>
                </a:solidFill>
              </a:rPr>
              <a:t>WEE1 inhibitor + CHK1/2 inhibitor  ·  MCF7 cells  ·  7×7 dose matrix  ·  72 h</a:t>
            </a:r>
          </a:p>
        </p:txBody>
      </p:sp>
      <p:sp>
        <p:nvSpPr>
          <p:cNvPr id="6" name="Rectangle 5"/>
          <p:cNvSpPr/>
          <p:nvPr/>
        </p:nvSpPr>
        <p:spPr>
          <a:xfrm>
            <a:off x="274320" y="914400"/>
            <a:ext cx="11640312" cy="457200"/>
          </a:xfrm>
          <a:prstGeom prst="rect">
            <a:avLst/>
          </a:prstGeom>
          <a:solidFill>
            <a:srgbClr val="EFF4FB"/>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247120" cy="310896"/>
          </a:xfrm>
          <a:prstGeom prst="rect">
            <a:avLst/>
          </a:prstGeom>
          <a:noFill/>
        </p:spPr>
        <p:txBody>
          <a:bodyPr wrap="square">
            <a:spAutoFit/>
          </a:bodyPr>
          <a:lstStyle/>
          <a:p>
            <a:pPr algn="l"/>
            <a:r>
              <a:rPr sz="1100" b="0" i="0">
                <a:solidFill>
                  <a:srgbClr val="1A375E"/>
                </a:solidFill>
              </a:rPr>
              <a:t>Bliss score &gt; 0 = synergy (combination exceeds predicted additive effect)  ·  = 0 = additive  ·  &lt; 0 = antagonism</a:t>
            </a:r>
          </a:p>
        </p:txBody>
      </p:sp>
      <p:sp>
        <p:nvSpPr>
          <p:cNvPr id="8" name="Rectangle 7"/>
          <p:cNvSpPr/>
          <p:nvPr/>
        </p:nvSpPr>
        <p:spPr>
          <a:xfrm>
            <a:off x="274320" y="1463040"/>
            <a:ext cx="11640312" cy="530352"/>
          </a:xfrm>
          <a:prstGeom prst="rect">
            <a:avLst/>
          </a:prstGeom>
          <a:solidFill>
            <a:srgbClr val="3796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8229600" cy="384048"/>
          </a:xfrm>
          <a:prstGeom prst="rect">
            <a:avLst/>
          </a:prstGeom>
          <a:noFill/>
        </p:spPr>
        <p:txBody>
          <a:bodyPr wrap="square">
            <a:spAutoFit/>
          </a:bodyPr>
          <a:lstStyle/>
          <a:p>
            <a:pPr algn="l"/>
            <a:r>
              <a:rPr sz="1800" b="1" i="0">
                <a:solidFill>
                  <a:srgbClr val="FFFFFF"/>
                </a:solidFill>
              </a:rPr>
              <a:t>Result:  SYNERGISTIC  —  Max Bliss score +0.56</a:t>
            </a:r>
          </a:p>
        </p:txBody>
      </p:sp>
      <p:sp>
        <p:nvSpPr>
          <p:cNvPr id="10" name="TextBox 9"/>
          <p:cNvSpPr txBox="1"/>
          <p:nvPr/>
        </p:nvSpPr>
        <p:spPr>
          <a:xfrm>
            <a:off x="10058400" y="1536192"/>
            <a:ext cx="1691640" cy="347472"/>
          </a:xfrm>
          <a:prstGeom prst="rect">
            <a:avLst/>
          </a:prstGeom>
          <a:noFill/>
        </p:spPr>
        <p:txBody>
          <a:bodyPr wrap="square">
            <a:spAutoFit/>
          </a:bodyPr>
          <a:lstStyle/>
          <a:p>
            <a:pPr algn="ctr"/>
            <a:r>
              <a:rPr sz="1300" b="1" i="0">
                <a:solidFill>
                  <a:srgbClr val="FFFFFF"/>
                </a:solidFill>
              </a:rPr>
              <a:t>✅ COMPLETE</a:t>
            </a:r>
          </a:p>
        </p:txBody>
      </p:sp>
      <p:sp>
        <p:nvSpPr>
          <p:cNvPr id="11" name="Rectangle 10"/>
          <p:cNvSpPr/>
          <p:nvPr/>
        </p:nvSpPr>
        <p:spPr>
          <a:xfrm>
            <a:off x="274320" y="2084831"/>
            <a:ext cx="7132320" cy="4315968"/>
          </a:xfrm>
          <a:prstGeom prst="rect">
            <a:avLst/>
          </a:prstGeom>
          <a:solidFill>
            <a:srgbClr val="E8F5E9"/>
          </a:solidFill>
          <a:ln w="12700">
            <a:solidFill>
              <a:srgbClr val="3796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57984"/>
            <a:ext cx="4572000" cy="347472"/>
          </a:xfrm>
          <a:prstGeom prst="rect">
            <a:avLst/>
          </a:prstGeom>
          <a:noFill/>
        </p:spPr>
        <p:txBody>
          <a:bodyPr wrap="square">
            <a:spAutoFit/>
          </a:bodyPr>
          <a:lstStyle/>
          <a:p>
            <a:pPr algn="l"/>
            <a:r>
              <a:rPr sz="1500" b="1" i="0">
                <a:solidFill>
                  <a:srgbClr val="1A375E"/>
                </a:solidFill>
              </a:rPr>
              <a:t>Key Findings</a:t>
            </a:r>
          </a:p>
        </p:txBody>
      </p:sp>
      <p:sp>
        <p:nvSpPr>
          <p:cNvPr id="13" name="TextBox 12"/>
          <p:cNvSpPr txBox="1"/>
          <p:nvPr/>
        </p:nvSpPr>
        <p:spPr>
          <a:xfrm>
            <a:off x="457200" y="2578608"/>
            <a:ext cx="6675120" cy="3474720"/>
          </a:xfrm>
          <a:prstGeom prst="rect">
            <a:avLst/>
          </a:prstGeom>
          <a:noFill/>
        </p:spPr>
        <p:txBody>
          <a:bodyPr wrap="square">
            <a:spAutoFit/>
          </a:bodyPr>
          <a:lstStyle/>
          <a:p>
            <a:pPr>
              <a:spcBef>
                <a:spcPts val="400"/>
              </a:spcBef>
            </a:pPr>
            <a:r>
              <a:rPr sz="1200">
                <a:solidFill>
                  <a:srgbClr val="1A1A1A"/>
                </a:solidFill>
              </a:rPr>
              <a:t>•  Max Bliss score: +0.56  at MK-1775 1,235 nM + Prexasertib 4.7 nM</a:t>
            </a:r>
          </a:p>
          <a:p>
            <a:pPr>
              <a:spcBef>
                <a:spcPts val="400"/>
              </a:spcBef>
            </a:pPr>
            <a:r>
              <a:rPr sz="1200">
                <a:solidFill>
                  <a:srgbClr val="1A1A1A"/>
                </a:solidFill>
              </a:rPr>
              <a:t>•  Strong synergy across mid-range MK-1775 (137–1,235 nM) combined with low-dose Prexasertib (1.4–7.1 nM)</a:t>
            </a:r>
          </a:p>
          <a:p>
            <a:pPr>
              <a:spcBef>
                <a:spcPts val="400"/>
              </a:spcBef>
            </a:pPr>
            <a:r>
              <a:rPr sz="1200">
                <a:solidFill>
                  <a:srgbClr val="1A1A1A"/>
                </a:solidFill>
              </a:rPr>
              <a:t>•  Synergy diminishes at saturating MK-1775 doses (≥11,111 nM) — ceiling effect as single-agent dominates</a:t>
            </a:r>
          </a:p>
          <a:p>
            <a:pPr>
              <a:spcBef>
                <a:spcPts val="400"/>
              </a:spcBef>
            </a:pPr>
            <a:r>
              <a:rPr sz="1200">
                <a:solidFill>
                  <a:srgbClr val="1A1A1A"/>
                </a:solidFill>
              </a:rPr>
              <a:t>•  Pattern consistent across 1-timepoint and multi-timepoint (37 TP) datasets</a:t>
            </a:r>
          </a:p>
          <a:p>
            <a:pPr>
              <a:spcBef>
                <a:spcPts val="400"/>
              </a:spcBef>
            </a:pPr>
            <a:r>
              <a:rPr sz="1200">
                <a:solidFill>
                  <a:srgbClr val="1A1A1A"/>
                </a:solidFill>
              </a:rPr>
              <a:t>•  MK-1775 IC₅₀ = 657 nM  |  Prexasertib IC₅₀ = 10 nM as single agents</a:t>
            </a:r>
          </a:p>
          <a:p>
            <a:pPr>
              <a:spcBef>
                <a:spcPts val="400"/>
              </a:spcBef>
            </a:pPr>
            <a:r>
              <a:rPr sz="1200">
                <a:solidFill>
                  <a:srgbClr val="1A1A1A"/>
                </a:solidFill>
              </a:rPr>
              <a:t>•  Combination achieves greater inhibition at sub-IC₅₀ doses of both drugs</a:t>
            </a:r>
          </a:p>
        </p:txBody>
      </p:sp>
      <p:sp>
        <p:nvSpPr>
          <p:cNvPr id="14" name="TextBox 13"/>
          <p:cNvSpPr txBox="1"/>
          <p:nvPr/>
        </p:nvSpPr>
        <p:spPr>
          <a:xfrm>
            <a:off x="457200" y="5486400"/>
            <a:ext cx="3657600" cy="274320"/>
          </a:xfrm>
          <a:prstGeom prst="rect">
            <a:avLst/>
          </a:prstGeom>
          <a:noFill/>
        </p:spPr>
        <p:txBody>
          <a:bodyPr wrap="square">
            <a:spAutoFit/>
          </a:bodyPr>
          <a:lstStyle/>
          <a:p>
            <a:pPr algn="l"/>
            <a:r>
              <a:rPr sz="1100" b="1" i="0">
                <a:solidFill>
                  <a:srgbClr val="1A375E"/>
                </a:solidFill>
              </a:rPr>
              <a:t>Bliss Score Distribution</a:t>
            </a:r>
          </a:p>
        </p:txBody>
      </p:sp>
      <p:sp>
        <p:nvSpPr>
          <p:cNvPr id="15" name="Rectangle 14"/>
          <p:cNvSpPr/>
          <p:nvPr/>
        </p:nvSpPr>
        <p:spPr>
          <a:xfrm>
            <a:off x="457200" y="5806440"/>
            <a:ext cx="1280160" cy="502920"/>
          </a:xfrm>
          <a:prstGeom prst="rect">
            <a:avLst/>
          </a:prstGeom>
          <a:solidFill>
            <a:srgbClr val="FFCC99"/>
          </a:solidFill>
          <a:ln w="63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737360" y="5806440"/>
            <a:ext cx="1280160" cy="502920"/>
          </a:xfrm>
          <a:prstGeom prst="rect">
            <a:avLst/>
          </a:prstGeom>
          <a:solidFill>
            <a:srgbClr val="F2F2F2"/>
          </a:solidFill>
          <a:ln w="63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017520" y="5806440"/>
            <a:ext cx="3931920" cy="502920"/>
          </a:xfrm>
          <a:prstGeom prst="rect">
            <a:avLst/>
          </a:prstGeom>
          <a:solidFill>
            <a:srgbClr val="C8E6C9"/>
          </a:solidFill>
          <a:ln w="63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833872"/>
            <a:ext cx="1188720" cy="438912"/>
          </a:xfrm>
          <a:prstGeom prst="rect">
            <a:avLst/>
          </a:prstGeom>
          <a:noFill/>
        </p:spPr>
        <p:txBody>
          <a:bodyPr wrap="square">
            <a:spAutoFit/>
          </a:bodyPr>
          <a:lstStyle/>
          <a:p>
            <a:pPr algn="l"/>
            <a:r>
              <a:rPr sz="900" b="0" i="0">
                <a:solidFill>
                  <a:srgbClr val="C55A11"/>
                </a:solidFill>
              </a:rPr>
              <a:t>Antagonism  &lt; 0</a:t>
            </a:r>
          </a:p>
        </p:txBody>
      </p:sp>
      <p:sp>
        <p:nvSpPr>
          <p:cNvPr id="19" name="TextBox 18"/>
          <p:cNvSpPr txBox="1"/>
          <p:nvPr/>
        </p:nvSpPr>
        <p:spPr>
          <a:xfrm>
            <a:off x="1783080" y="5833872"/>
            <a:ext cx="1188720" cy="438912"/>
          </a:xfrm>
          <a:prstGeom prst="rect">
            <a:avLst/>
          </a:prstGeom>
          <a:noFill/>
        </p:spPr>
        <p:txBody>
          <a:bodyPr wrap="square">
            <a:spAutoFit/>
          </a:bodyPr>
          <a:lstStyle/>
          <a:p>
            <a:pPr algn="l"/>
            <a:r>
              <a:rPr sz="900" b="0" i="0">
                <a:solidFill>
                  <a:srgbClr val="1A1A1A"/>
                </a:solidFill>
              </a:rPr>
              <a:t>Additive  ≈ 0</a:t>
            </a:r>
          </a:p>
        </p:txBody>
      </p:sp>
      <p:sp>
        <p:nvSpPr>
          <p:cNvPr id="20" name="TextBox 19"/>
          <p:cNvSpPr txBox="1"/>
          <p:nvPr/>
        </p:nvSpPr>
        <p:spPr>
          <a:xfrm>
            <a:off x="3063240" y="5833872"/>
            <a:ext cx="3840480" cy="438912"/>
          </a:xfrm>
          <a:prstGeom prst="rect">
            <a:avLst/>
          </a:prstGeom>
          <a:noFill/>
        </p:spPr>
        <p:txBody>
          <a:bodyPr wrap="square">
            <a:spAutoFit/>
          </a:bodyPr>
          <a:lstStyle/>
          <a:p>
            <a:pPr algn="l"/>
            <a:r>
              <a:rPr sz="900" b="1" i="0">
                <a:solidFill>
                  <a:srgbClr val="379637"/>
                </a:solidFill>
              </a:rPr>
              <a:t>Synergy  0 → +0.56  ★ peak observed</a:t>
            </a:r>
          </a:p>
        </p:txBody>
      </p:sp>
      <p:sp>
        <p:nvSpPr>
          <p:cNvPr id="21" name="Rectangle 20"/>
          <p:cNvSpPr/>
          <p:nvPr/>
        </p:nvSpPr>
        <p:spPr>
          <a:xfrm>
            <a:off x="7680960" y="2084831"/>
            <a:ext cx="4233672" cy="4315968"/>
          </a:xfrm>
          <a:prstGeom prst="rect">
            <a:avLst/>
          </a:prstGeom>
          <a:solidFill>
            <a:srgbClr val="F3EEFA"/>
          </a:solidFill>
          <a:ln w="19050">
            <a:solidFill>
              <a:srgbClr val="5B2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18120" y="2157984"/>
            <a:ext cx="2331720" cy="292608"/>
          </a:xfrm>
          <a:prstGeom prst="rect">
            <a:avLst/>
          </a:prstGeom>
          <a:solidFill>
            <a:srgbClr val="5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1272" y="2194560"/>
            <a:ext cx="2221991" cy="237744"/>
          </a:xfrm>
          <a:prstGeom prst="rect">
            <a:avLst/>
          </a:prstGeom>
          <a:noFill/>
        </p:spPr>
        <p:txBody>
          <a:bodyPr wrap="square">
            <a:spAutoFit/>
          </a:bodyPr>
          <a:lstStyle/>
          <a:p>
            <a:pPr algn="l"/>
            <a:r>
              <a:rPr sz="1000" b="1" i="0">
                <a:solidFill>
                  <a:srgbClr val="FFFFFF"/>
                </a:solidFill>
              </a:rPr>
              <a:t>🤖  AI-Assisted Interpretation</a:t>
            </a:r>
          </a:p>
        </p:txBody>
      </p:sp>
      <p:sp>
        <p:nvSpPr>
          <p:cNvPr id="24" name="TextBox 23"/>
          <p:cNvSpPr txBox="1"/>
          <p:nvPr/>
        </p:nvSpPr>
        <p:spPr>
          <a:xfrm>
            <a:off x="7818120" y="2514600"/>
            <a:ext cx="3931920" cy="320040"/>
          </a:xfrm>
          <a:prstGeom prst="rect">
            <a:avLst/>
          </a:prstGeom>
          <a:noFill/>
        </p:spPr>
        <p:txBody>
          <a:bodyPr wrap="square">
            <a:spAutoFit/>
          </a:bodyPr>
          <a:lstStyle/>
          <a:p>
            <a:pPr algn="l"/>
            <a:r>
              <a:rPr sz="1300" b="1" i="0">
                <a:solidFill>
                  <a:srgbClr val="5B2D8E"/>
                </a:solidFill>
              </a:rPr>
              <a:t>Interpretation</a:t>
            </a:r>
          </a:p>
        </p:txBody>
      </p:sp>
      <p:sp>
        <p:nvSpPr>
          <p:cNvPr id="25" name="TextBox 24"/>
          <p:cNvSpPr txBox="1"/>
          <p:nvPr/>
        </p:nvSpPr>
        <p:spPr>
          <a:xfrm>
            <a:off x="7818120" y="2907792"/>
            <a:ext cx="3931920" cy="3337560"/>
          </a:xfrm>
          <a:prstGeom prst="rect">
            <a:avLst/>
          </a:prstGeom>
          <a:noFill/>
        </p:spPr>
        <p:txBody>
          <a:bodyPr wrap="square">
            <a:spAutoFit/>
          </a:bodyPr>
          <a:lstStyle/>
          <a:p>
            <a:pPr algn="l"/>
            <a:r>
              <a:rPr sz="1050" b="0" i="0">
                <a:solidFill>
                  <a:srgbClr val="1A1A1A"/>
                </a:solidFill>
              </a:rPr>
              <a:t>MK-1775 (WEE1 inhibitor) and Prexasertib (CHK1/2 inhibitor) target complementary DNA damage checkpoint kinases. Blocking both simultaneously prevents cells from pausing replication at two independent checkpoints, forcing them into mitosis with unrepaired DNA — a mechanism consistent with the observed synergy.
The synergy is strongest at mid-range MK-1775 doses where the WEE1 checkpoint is partially inhibited and Prexasertib can tip cells into catastrophic mitotic entry. At saturating MK-1775 doses, the WEE1 checkpoint is already fully ablated, so adding Prexasertib provides little additional benefit.
These findings support the clinical rationale for combining WEE1 and CHK1/2 inhibitors in MCF7 breast cancer cells.</a:t>
            </a:r>
          </a:p>
        </p:txBody>
      </p:sp>
      <p:sp>
        <p:nvSpPr>
          <p:cNvPr id="26" name="Rectangle 25"/>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4 of 7</a:t>
            </a:r>
          </a:p>
        </p:txBody>
      </p:sp>
      <p:sp>
        <p:nvSpPr>
          <p:cNvPr id="28" name="TextBox 27"/>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8046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8046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11704320" cy="502920"/>
          </a:xfrm>
          <a:prstGeom prst="rect">
            <a:avLst/>
          </a:prstGeom>
          <a:noFill/>
        </p:spPr>
        <p:txBody>
          <a:bodyPr wrap="square">
            <a:spAutoFit/>
          </a:bodyPr>
          <a:lstStyle/>
          <a:p>
            <a:pPr algn="l"/>
            <a:r>
              <a:rPr sz="2600" b="1" i="0">
                <a:solidFill>
                  <a:srgbClr val="FFFFFF"/>
                </a:solidFill>
              </a:rPr>
              <a:t>Drug Combination: MK-1775 + BAY1895344 — Bliss Independence Model</a:t>
            </a:r>
          </a:p>
        </p:txBody>
      </p:sp>
      <p:sp>
        <p:nvSpPr>
          <p:cNvPr id="5" name="TextBox 4"/>
          <p:cNvSpPr txBox="1"/>
          <p:nvPr/>
        </p:nvSpPr>
        <p:spPr>
          <a:xfrm>
            <a:off x="228600" y="548640"/>
            <a:ext cx="11704320" cy="228600"/>
          </a:xfrm>
          <a:prstGeom prst="rect">
            <a:avLst/>
          </a:prstGeom>
          <a:noFill/>
        </p:spPr>
        <p:txBody>
          <a:bodyPr wrap="square">
            <a:spAutoFit/>
          </a:bodyPr>
          <a:lstStyle/>
          <a:p>
            <a:pPr algn="l"/>
            <a:r>
              <a:rPr sz="1200" b="0" i="0">
                <a:solidFill>
                  <a:srgbClr val="BDD7EE"/>
                </a:solidFill>
              </a:rPr>
              <a:t>WEE1 inhibitor + ATR inhibitor  ·  MCF7 cells  ·  7×7 dose matrix  ·  72 h</a:t>
            </a:r>
          </a:p>
        </p:txBody>
      </p:sp>
      <p:sp>
        <p:nvSpPr>
          <p:cNvPr id="6" name="Rectangle 5"/>
          <p:cNvSpPr/>
          <p:nvPr/>
        </p:nvSpPr>
        <p:spPr>
          <a:xfrm>
            <a:off x="274320" y="914400"/>
            <a:ext cx="11640312" cy="457200"/>
          </a:xfrm>
          <a:prstGeom prst="rect">
            <a:avLst/>
          </a:prstGeom>
          <a:solidFill>
            <a:srgbClr val="EFF4FB"/>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247120" cy="310896"/>
          </a:xfrm>
          <a:prstGeom prst="rect">
            <a:avLst/>
          </a:prstGeom>
          <a:noFill/>
        </p:spPr>
        <p:txBody>
          <a:bodyPr wrap="square">
            <a:spAutoFit/>
          </a:bodyPr>
          <a:lstStyle/>
          <a:p>
            <a:pPr algn="l"/>
            <a:r>
              <a:rPr sz="1100" b="0" i="0">
                <a:solidFill>
                  <a:srgbClr val="1A375E"/>
                </a:solidFill>
              </a:rPr>
              <a:t>Bliss score &gt; 0 = synergy (combination exceeds predicted additive effect)  ·  = 0 = additive  ·  &lt; 0 = antagonism</a:t>
            </a:r>
          </a:p>
        </p:txBody>
      </p:sp>
      <p:sp>
        <p:nvSpPr>
          <p:cNvPr id="8" name="Rectangle 7"/>
          <p:cNvSpPr/>
          <p:nvPr/>
        </p:nvSpPr>
        <p:spPr>
          <a:xfrm>
            <a:off x="274320" y="1463040"/>
            <a:ext cx="11640312" cy="530352"/>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8229600" cy="384048"/>
          </a:xfrm>
          <a:prstGeom prst="rect">
            <a:avLst/>
          </a:prstGeom>
          <a:noFill/>
        </p:spPr>
        <p:txBody>
          <a:bodyPr wrap="square">
            <a:spAutoFit/>
          </a:bodyPr>
          <a:lstStyle/>
          <a:p>
            <a:pPr algn="l"/>
            <a:r>
              <a:rPr sz="1800" b="1" i="0">
                <a:solidFill>
                  <a:srgbClr val="FFFFFF"/>
                </a:solidFill>
              </a:rPr>
              <a:t>Result:  WEAK / ADDITIVE  —  Max Bliss score +0.42</a:t>
            </a:r>
          </a:p>
        </p:txBody>
      </p:sp>
      <p:sp>
        <p:nvSpPr>
          <p:cNvPr id="10" name="TextBox 9"/>
          <p:cNvSpPr txBox="1"/>
          <p:nvPr/>
        </p:nvSpPr>
        <p:spPr>
          <a:xfrm>
            <a:off x="10058400" y="1536192"/>
            <a:ext cx="1691640" cy="347472"/>
          </a:xfrm>
          <a:prstGeom prst="rect">
            <a:avLst/>
          </a:prstGeom>
          <a:noFill/>
        </p:spPr>
        <p:txBody>
          <a:bodyPr wrap="square">
            <a:spAutoFit/>
          </a:bodyPr>
          <a:lstStyle/>
          <a:p>
            <a:pPr algn="ctr"/>
            <a:r>
              <a:rPr sz="1300" b="1" i="0">
                <a:solidFill>
                  <a:srgbClr val="FFFFFF"/>
                </a:solidFill>
              </a:rPr>
              <a:t>✅ COMPLETE</a:t>
            </a:r>
          </a:p>
        </p:txBody>
      </p:sp>
      <p:sp>
        <p:nvSpPr>
          <p:cNvPr id="11" name="Rectangle 10"/>
          <p:cNvSpPr/>
          <p:nvPr/>
        </p:nvSpPr>
        <p:spPr>
          <a:xfrm>
            <a:off x="274320" y="2084831"/>
            <a:ext cx="7132320" cy="4315968"/>
          </a:xfrm>
          <a:prstGeom prst="rect">
            <a:avLst/>
          </a:prstGeom>
          <a:solidFill>
            <a:srgbClr val="FFF8F0"/>
          </a:solid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57984"/>
            <a:ext cx="4572000" cy="347472"/>
          </a:xfrm>
          <a:prstGeom prst="rect">
            <a:avLst/>
          </a:prstGeom>
          <a:noFill/>
        </p:spPr>
        <p:txBody>
          <a:bodyPr wrap="square">
            <a:spAutoFit/>
          </a:bodyPr>
          <a:lstStyle/>
          <a:p>
            <a:pPr algn="l"/>
            <a:r>
              <a:rPr sz="1500" b="1" i="0">
                <a:solidFill>
                  <a:srgbClr val="1A375E"/>
                </a:solidFill>
              </a:rPr>
              <a:t>Key Findings</a:t>
            </a:r>
          </a:p>
        </p:txBody>
      </p:sp>
      <p:sp>
        <p:nvSpPr>
          <p:cNvPr id="13" name="TextBox 12"/>
          <p:cNvSpPr txBox="1"/>
          <p:nvPr/>
        </p:nvSpPr>
        <p:spPr>
          <a:xfrm>
            <a:off x="457200" y="2578608"/>
            <a:ext cx="6675120" cy="3474720"/>
          </a:xfrm>
          <a:prstGeom prst="rect">
            <a:avLst/>
          </a:prstGeom>
          <a:noFill/>
        </p:spPr>
        <p:txBody>
          <a:bodyPr wrap="square">
            <a:spAutoFit/>
          </a:bodyPr>
          <a:lstStyle/>
          <a:p>
            <a:pPr>
              <a:spcBef>
                <a:spcPts val="400"/>
              </a:spcBef>
            </a:pPr>
            <a:r>
              <a:rPr sz="1200">
                <a:solidFill>
                  <a:srgbClr val="1A1A1A"/>
                </a:solidFill>
              </a:rPr>
              <a:t>•  Max Bliss score: +0.42  at MK-1775 137 nM + BAY1895344 167 nM</a:t>
            </a:r>
          </a:p>
          <a:p>
            <a:pPr>
              <a:spcBef>
                <a:spcPts val="400"/>
              </a:spcBef>
            </a:pPr>
            <a:r>
              <a:rPr sz="1200">
                <a:solidFill>
                  <a:srgbClr val="1A1A1A"/>
                </a:solidFill>
              </a:rPr>
              <a:t>•  Majority of scores near zero — interaction is largely additive across the 7×7 matrix</a:t>
            </a:r>
          </a:p>
          <a:p>
            <a:pPr>
              <a:spcBef>
                <a:spcPts val="400"/>
              </a:spcBef>
            </a:pPr>
            <a:r>
              <a:rPr sz="1200">
                <a:solidFill>
                  <a:srgbClr val="1A1A1A"/>
                </a:solidFill>
              </a:rPr>
              <a:t>•  Occasional moderate synergy at specific dose pairs but no consistent pattern</a:t>
            </a:r>
          </a:p>
          <a:p>
            <a:pPr>
              <a:spcBef>
                <a:spcPts val="400"/>
              </a:spcBef>
            </a:pPr>
            <a:r>
              <a:rPr sz="1200">
                <a:solidFill>
                  <a:srgbClr val="1A1A1A"/>
                </a:solidFill>
              </a:rPr>
              <a:t>•  Both 1-timepoint and multi-timepoint (37 TP) datasets show similar additive behaviour</a:t>
            </a:r>
          </a:p>
          <a:p>
            <a:pPr>
              <a:spcBef>
                <a:spcPts val="400"/>
              </a:spcBef>
            </a:pPr>
            <a:r>
              <a:rPr sz="1200">
                <a:solidFill>
                  <a:srgbClr val="1A1A1A"/>
                </a:solidFill>
              </a:rPr>
              <a:t>•  MK-1775 IC₅₀ = 657 nM  |  BAY1895344 IC₅₀ = 273 nM as single agents</a:t>
            </a:r>
          </a:p>
          <a:p>
            <a:pPr>
              <a:spcBef>
                <a:spcPts val="400"/>
              </a:spcBef>
            </a:pPr>
            <a:r>
              <a:rPr sz="1200">
                <a:solidFill>
                  <a:srgbClr val="1A1A1A"/>
                </a:solidFill>
              </a:rPr>
              <a:t>•  No dose region shows sustained, reproducible synergy above +0.3</a:t>
            </a:r>
          </a:p>
        </p:txBody>
      </p:sp>
      <p:sp>
        <p:nvSpPr>
          <p:cNvPr id="14" name="TextBox 13"/>
          <p:cNvSpPr txBox="1"/>
          <p:nvPr/>
        </p:nvSpPr>
        <p:spPr>
          <a:xfrm>
            <a:off x="457200" y="5486400"/>
            <a:ext cx="3657600" cy="274320"/>
          </a:xfrm>
          <a:prstGeom prst="rect">
            <a:avLst/>
          </a:prstGeom>
          <a:noFill/>
        </p:spPr>
        <p:txBody>
          <a:bodyPr wrap="square">
            <a:spAutoFit/>
          </a:bodyPr>
          <a:lstStyle/>
          <a:p>
            <a:pPr algn="l"/>
            <a:r>
              <a:rPr sz="1100" b="1" i="0">
                <a:solidFill>
                  <a:srgbClr val="1A375E"/>
                </a:solidFill>
              </a:rPr>
              <a:t>Bliss Score Distribution</a:t>
            </a:r>
          </a:p>
        </p:txBody>
      </p:sp>
      <p:sp>
        <p:nvSpPr>
          <p:cNvPr id="15" name="Rectangle 14"/>
          <p:cNvSpPr/>
          <p:nvPr/>
        </p:nvSpPr>
        <p:spPr>
          <a:xfrm>
            <a:off x="457200" y="5806440"/>
            <a:ext cx="1280160" cy="502920"/>
          </a:xfrm>
          <a:prstGeom prst="rect">
            <a:avLst/>
          </a:prstGeom>
          <a:solidFill>
            <a:srgbClr val="FFCC99"/>
          </a:solidFill>
          <a:ln w="63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737360" y="5806440"/>
            <a:ext cx="3200400" cy="502920"/>
          </a:xfrm>
          <a:prstGeom prst="rect">
            <a:avLst/>
          </a:prstGeom>
          <a:solidFill>
            <a:srgbClr val="F2F2F2"/>
          </a:solidFill>
          <a:ln w="63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5806440"/>
            <a:ext cx="1783080" cy="502920"/>
          </a:xfrm>
          <a:prstGeom prst="rect">
            <a:avLst/>
          </a:prstGeom>
          <a:solidFill>
            <a:srgbClr val="C8E6C9"/>
          </a:solidFill>
          <a:ln w="63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833872"/>
            <a:ext cx="1188720" cy="438912"/>
          </a:xfrm>
          <a:prstGeom prst="rect">
            <a:avLst/>
          </a:prstGeom>
          <a:noFill/>
        </p:spPr>
        <p:txBody>
          <a:bodyPr wrap="square">
            <a:spAutoFit/>
          </a:bodyPr>
          <a:lstStyle/>
          <a:p>
            <a:pPr algn="l"/>
            <a:r>
              <a:rPr sz="900" b="0" i="0">
                <a:solidFill>
                  <a:srgbClr val="C55A11"/>
                </a:solidFill>
              </a:rPr>
              <a:t>Antagonism &lt; 0</a:t>
            </a:r>
          </a:p>
        </p:txBody>
      </p:sp>
      <p:sp>
        <p:nvSpPr>
          <p:cNvPr id="19" name="TextBox 18"/>
          <p:cNvSpPr txBox="1"/>
          <p:nvPr/>
        </p:nvSpPr>
        <p:spPr>
          <a:xfrm>
            <a:off x="1783080" y="5833872"/>
            <a:ext cx="3108960" cy="438912"/>
          </a:xfrm>
          <a:prstGeom prst="rect">
            <a:avLst/>
          </a:prstGeom>
          <a:noFill/>
        </p:spPr>
        <p:txBody>
          <a:bodyPr wrap="square">
            <a:spAutoFit/>
          </a:bodyPr>
          <a:lstStyle/>
          <a:p>
            <a:pPr algn="l"/>
            <a:r>
              <a:rPr sz="900" b="0" i="0">
                <a:solidFill>
                  <a:srgbClr val="1A1A1A"/>
                </a:solidFill>
              </a:rPr>
              <a:t>Mostly additive  (bulk of scores)</a:t>
            </a:r>
          </a:p>
        </p:txBody>
      </p:sp>
      <p:sp>
        <p:nvSpPr>
          <p:cNvPr id="20" name="TextBox 19"/>
          <p:cNvSpPr txBox="1"/>
          <p:nvPr/>
        </p:nvSpPr>
        <p:spPr>
          <a:xfrm>
            <a:off x="4983480" y="5833872"/>
            <a:ext cx="1691640" cy="438912"/>
          </a:xfrm>
          <a:prstGeom prst="rect">
            <a:avLst/>
          </a:prstGeom>
          <a:noFill/>
        </p:spPr>
        <p:txBody>
          <a:bodyPr wrap="square">
            <a:spAutoFit/>
          </a:bodyPr>
          <a:lstStyle/>
          <a:p>
            <a:pPr algn="l"/>
            <a:r>
              <a:rPr sz="900" b="1" i="0">
                <a:solidFill>
                  <a:srgbClr val="379637"/>
                </a:solidFill>
              </a:rPr>
              <a:t>Weak synergy  → +0.42</a:t>
            </a:r>
          </a:p>
        </p:txBody>
      </p:sp>
      <p:sp>
        <p:nvSpPr>
          <p:cNvPr id="21" name="Rectangle 20"/>
          <p:cNvSpPr/>
          <p:nvPr/>
        </p:nvSpPr>
        <p:spPr>
          <a:xfrm>
            <a:off x="7680960" y="2084831"/>
            <a:ext cx="4233672" cy="4315968"/>
          </a:xfrm>
          <a:prstGeom prst="rect">
            <a:avLst/>
          </a:prstGeom>
          <a:solidFill>
            <a:srgbClr val="F3EEFA"/>
          </a:solidFill>
          <a:ln w="19050">
            <a:solidFill>
              <a:srgbClr val="5B2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18120" y="2157984"/>
            <a:ext cx="2331720" cy="292608"/>
          </a:xfrm>
          <a:prstGeom prst="rect">
            <a:avLst/>
          </a:prstGeom>
          <a:solidFill>
            <a:srgbClr val="5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1272" y="2194560"/>
            <a:ext cx="2221991" cy="237744"/>
          </a:xfrm>
          <a:prstGeom prst="rect">
            <a:avLst/>
          </a:prstGeom>
          <a:noFill/>
        </p:spPr>
        <p:txBody>
          <a:bodyPr wrap="square">
            <a:spAutoFit/>
          </a:bodyPr>
          <a:lstStyle/>
          <a:p>
            <a:pPr algn="l"/>
            <a:r>
              <a:rPr sz="1000" b="1" i="0">
                <a:solidFill>
                  <a:srgbClr val="FFFFFF"/>
                </a:solidFill>
              </a:rPr>
              <a:t>🤖  AI-Assisted Interpretation</a:t>
            </a:r>
          </a:p>
        </p:txBody>
      </p:sp>
      <p:sp>
        <p:nvSpPr>
          <p:cNvPr id="24" name="TextBox 23"/>
          <p:cNvSpPr txBox="1"/>
          <p:nvPr/>
        </p:nvSpPr>
        <p:spPr>
          <a:xfrm>
            <a:off x="7818120" y="2514600"/>
            <a:ext cx="3931920" cy="320040"/>
          </a:xfrm>
          <a:prstGeom prst="rect">
            <a:avLst/>
          </a:prstGeom>
          <a:noFill/>
        </p:spPr>
        <p:txBody>
          <a:bodyPr wrap="square">
            <a:spAutoFit/>
          </a:bodyPr>
          <a:lstStyle/>
          <a:p>
            <a:pPr algn="l"/>
            <a:r>
              <a:rPr sz="1300" b="1" i="0">
                <a:solidFill>
                  <a:srgbClr val="5B2D8E"/>
                </a:solidFill>
              </a:rPr>
              <a:t>Interpretation</a:t>
            </a:r>
          </a:p>
        </p:txBody>
      </p:sp>
      <p:sp>
        <p:nvSpPr>
          <p:cNvPr id="25" name="TextBox 24"/>
          <p:cNvSpPr txBox="1"/>
          <p:nvPr/>
        </p:nvSpPr>
        <p:spPr>
          <a:xfrm>
            <a:off x="7818120" y="2907792"/>
            <a:ext cx="3931920" cy="3337560"/>
          </a:xfrm>
          <a:prstGeom prst="rect">
            <a:avLst/>
          </a:prstGeom>
          <a:noFill/>
        </p:spPr>
        <p:txBody>
          <a:bodyPr wrap="square">
            <a:spAutoFit/>
          </a:bodyPr>
          <a:lstStyle/>
          <a:p>
            <a:pPr algn="l"/>
            <a:r>
              <a:rPr sz="1050" b="0" i="0">
                <a:solidFill>
                  <a:srgbClr val="1A1A1A"/>
                </a:solidFill>
              </a:rPr>
              <a:t>MK-1775 (WEE1i) and BAY1895344 (ATRi) both target the replication stress response, but through overlapping rather than complementary mechanisms. WEE1 and ATR both regulate CDK1/2 activity and S-phase checkpoint signalling — inhibiting both may not provide substantially more replication fork collapse than either agent alone.
The largely additive Bliss scores suggest the two drugs are not cooperating beyond their individual effects in MCF7 cells under these conditions. The isolated peak at +0.42 (MK-1775 137 nM + BAY1895344 167 nM) is near the IC₅₀ of both agents and could reflect a narrow window of partial checkpoint co-inhibition rather than true biological synergy.
Contrast with MK-1775 + Prexasertib (Slide 4), where broader synergy was observed — suggesting CHK1/2 inhibition is a more effective partner for WEE1 inhibition than ATR inhibition in this model.</a:t>
            </a:r>
          </a:p>
        </p:txBody>
      </p:sp>
      <p:sp>
        <p:nvSpPr>
          <p:cNvPr id="26" name="Rectangle 25"/>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5 of 7</a:t>
            </a:r>
          </a:p>
        </p:txBody>
      </p:sp>
      <p:sp>
        <p:nvSpPr>
          <p:cNvPr id="28" name="TextBox 27"/>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8046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8046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11704320" cy="502920"/>
          </a:xfrm>
          <a:prstGeom prst="rect">
            <a:avLst/>
          </a:prstGeom>
          <a:noFill/>
        </p:spPr>
        <p:txBody>
          <a:bodyPr wrap="square">
            <a:spAutoFit/>
          </a:bodyPr>
          <a:lstStyle/>
          <a:p>
            <a:pPr algn="l"/>
            <a:r>
              <a:rPr sz="2600" b="1" i="0">
                <a:solidFill>
                  <a:srgbClr val="FFFFFF"/>
                </a:solidFill>
              </a:rPr>
              <a:t>Genetic Perturbagen Screen Results</a:t>
            </a:r>
          </a:p>
        </p:txBody>
      </p:sp>
      <p:sp>
        <p:nvSpPr>
          <p:cNvPr id="5" name="TextBox 4"/>
          <p:cNvSpPr txBox="1"/>
          <p:nvPr/>
        </p:nvSpPr>
        <p:spPr>
          <a:xfrm>
            <a:off x="228600" y="548640"/>
            <a:ext cx="11704320" cy="228600"/>
          </a:xfrm>
          <a:prstGeom prst="rect">
            <a:avLst/>
          </a:prstGeom>
          <a:noFill/>
        </p:spPr>
        <p:txBody>
          <a:bodyPr wrap="square">
            <a:spAutoFit/>
          </a:bodyPr>
          <a:lstStyle/>
          <a:p>
            <a:pPr algn="l"/>
            <a:r>
              <a:rPr sz="1200" b="0" i="0">
                <a:solidFill>
                  <a:srgbClr val="BDD7EE"/>
                </a:solidFill>
              </a:rPr>
              <a:t>siRNA/shRNA knockdown screens  ·  MCF7 cells  ·  1 and multi-timepoint datasets</a:t>
            </a:r>
          </a:p>
        </p:txBody>
      </p:sp>
      <p:sp>
        <p:nvSpPr>
          <p:cNvPr id="6" name="Rectangle 5"/>
          <p:cNvSpPr/>
          <p:nvPr/>
        </p:nvSpPr>
        <p:spPr>
          <a:xfrm>
            <a:off x="274320" y="987552"/>
            <a:ext cx="11640312" cy="2633472"/>
          </a:xfrm>
          <a:prstGeom prst="rect">
            <a:avLst/>
          </a:prstGeom>
          <a:solidFill>
            <a:srgbClr val="F5F9FF"/>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987552"/>
            <a:ext cx="11640312"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60704"/>
            <a:ext cx="8686800" cy="329184"/>
          </a:xfrm>
          <a:prstGeom prst="rect">
            <a:avLst/>
          </a:prstGeom>
          <a:noFill/>
        </p:spPr>
        <p:txBody>
          <a:bodyPr wrap="square">
            <a:spAutoFit/>
          </a:bodyPr>
          <a:lstStyle/>
          <a:p>
            <a:pPr algn="l"/>
            <a:r>
              <a:rPr sz="1400" b="1" i="0">
                <a:solidFill>
                  <a:srgbClr val="FFFFFF"/>
                </a:solidFill>
              </a:rPr>
              <a:t>1 Time Point  |  1 Control  (48 h endpoint)  —  75 perturbagens screened</a:t>
            </a:r>
          </a:p>
        </p:txBody>
      </p:sp>
      <p:sp>
        <p:nvSpPr>
          <p:cNvPr id="9" name="Rectangle 8"/>
          <p:cNvSpPr/>
          <p:nvPr/>
        </p:nvSpPr>
        <p:spPr>
          <a:xfrm>
            <a:off x="9601200" y="1078992"/>
            <a:ext cx="2148840" cy="292608"/>
          </a:xfrm>
          <a:prstGeom prst="rect">
            <a:avLst/>
          </a:prstGeom>
          <a:solidFill>
            <a:srgbClr val="1F8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19488" y="1088136"/>
            <a:ext cx="2112264" cy="256032"/>
          </a:xfrm>
          <a:prstGeom prst="rect">
            <a:avLst/>
          </a:prstGeom>
          <a:noFill/>
        </p:spPr>
        <p:txBody>
          <a:bodyPr wrap="square">
            <a:spAutoFit/>
          </a:bodyPr>
          <a:lstStyle/>
          <a:p>
            <a:pPr algn="ctr"/>
            <a:r>
              <a:rPr sz="1100" b="1" i="0">
                <a:solidFill>
                  <a:srgbClr val="FFFFFF"/>
                </a:solidFill>
              </a:rPr>
              <a:t>✅  COMPLETE</a:t>
            </a:r>
          </a:p>
        </p:txBody>
      </p:sp>
      <p:sp>
        <p:nvSpPr>
          <p:cNvPr id="11" name="TextBox 10"/>
          <p:cNvSpPr txBox="1"/>
          <p:nvPr/>
        </p:nvSpPr>
        <p:spPr>
          <a:xfrm>
            <a:off x="457200" y="1536192"/>
            <a:ext cx="11247120" cy="292608"/>
          </a:xfrm>
          <a:prstGeom prst="rect">
            <a:avLst/>
          </a:prstGeom>
          <a:noFill/>
        </p:spPr>
        <p:txBody>
          <a:bodyPr wrap="square">
            <a:spAutoFit/>
          </a:bodyPr>
          <a:lstStyle/>
          <a:p>
            <a:pPr algn="l"/>
            <a:r>
              <a:rPr sz="1100" b="0" i="1">
                <a:solidFill>
                  <a:srgbClr val="1A375E"/>
                </a:solidFill>
              </a:rPr>
              <a:t>Gene perturbagens tested at 40 ng/well in MCF7 cells (12K/well). Normalised confluency relative to non-targeting control (100%). Note: gene names are anonymized in the HTSplotter public example dataset.</a:t>
            </a:r>
          </a:p>
        </p:txBody>
      </p:sp>
      <p:sp>
        <p:nvSpPr>
          <p:cNvPr id="12" name="TextBox 11"/>
          <p:cNvSpPr txBox="1"/>
          <p:nvPr/>
        </p:nvSpPr>
        <p:spPr>
          <a:xfrm>
            <a:off x="457200" y="1883664"/>
            <a:ext cx="5029200" cy="1627632"/>
          </a:xfrm>
          <a:prstGeom prst="rect">
            <a:avLst/>
          </a:prstGeom>
          <a:noFill/>
        </p:spPr>
        <p:txBody>
          <a:bodyPr wrap="square">
            <a:spAutoFit/>
          </a:bodyPr>
          <a:lstStyle/>
          <a:p>
            <a:pPr>
              <a:spcBef>
                <a:spcPts val="400"/>
              </a:spcBef>
            </a:pPr>
            <a:r>
              <a:rPr sz="1100">
                <a:solidFill>
                  <a:srgbClr val="1A1A1A"/>
                </a:solidFill>
              </a:rPr>
              <a:t>•  75 perturbagens screened in a single endpoint confluency assay</a:t>
            </a:r>
          </a:p>
          <a:p>
            <a:pPr>
              <a:spcBef>
                <a:spcPts val="400"/>
              </a:spcBef>
            </a:pPr>
            <a:r>
              <a:rPr sz="1100">
                <a:solidFill>
                  <a:srgbClr val="1A1A1A"/>
                </a:solidFill>
              </a:rPr>
              <a:t>•  Values above 100% = enhanced growth; below 100% = growth inhibition</a:t>
            </a:r>
          </a:p>
          <a:p>
            <a:pPr>
              <a:spcBef>
                <a:spcPts val="400"/>
              </a:spcBef>
            </a:pPr>
            <a:r>
              <a:rPr sz="1100">
                <a:solidFill>
                  <a:srgbClr val="1A1A1A"/>
                </a:solidFill>
              </a:rPr>
              <a:t>•  Identifies candidate genes whose knockdown significantly alters cell proliferation</a:t>
            </a:r>
          </a:p>
        </p:txBody>
      </p:sp>
      <p:sp>
        <p:nvSpPr>
          <p:cNvPr id="13" name="TextBox 12"/>
          <p:cNvSpPr txBox="1"/>
          <p:nvPr/>
        </p:nvSpPr>
        <p:spPr>
          <a:xfrm>
            <a:off x="5669280" y="1883664"/>
            <a:ext cx="5989320" cy="256032"/>
          </a:xfrm>
          <a:prstGeom prst="rect">
            <a:avLst/>
          </a:prstGeom>
          <a:noFill/>
        </p:spPr>
        <p:txBody>
          <a:bodyPr wrap="square">
            <a:spAutoFit/>
          </a:bodyPr>
          <a:lstStyle/>
          <a:p>
            <a:pPr algn="l"/>
            <a:r>
              <a:rPr sz="1100" b="1" i="0">
                <a:solidFill>
                  <a:srgbClr val="1A375E"/>
                </a:solidFill>
              </a:rPr>
              <a:t>Notable Hits  (48 h confluency vs. control)</a:t>
            </a:r>
          </a:p>
        </p:txBody>
      </p:sp>
      <p:sp>
        <p:nvSpPr>
          <p:cNvPr id="14" name="Rectangle 13"/>
          <p:cNvSpPr/>
          <p:nvPr/>
        </p:nvSpPr>
        <p:spPr>
          <a:xfrm>
            <a:off x="5669280" y="2176272"/>
            <a:ext cx="1463040" cy="274320"/>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15000" y="2203704"/>
            <a:ext cx="1389888" cy="219456"/>
          </a:xfrm>
          <a:prstGeom prst="rect">
            <a:avLst/>
          </a:prstGeom>
          <a:noFill/>
        </p:spPr>
        <p:txBody>
          <a:bodyPr wrap="square">
            <a:spAutoFit/>
          </a:bodyPr>
          <a:lstStyle/>
          <a:p>
            <a:pPr algn="ctr"/>
            <a:r>
              <a:rPr sz="1000" b="1" i="0">
                <a:solidFill>
                  <a:srgbClr val="FFFFFF"/>
                </a:solidFill>
              </a:rPr>
              <a:t>Target</a:t>
            </a:r>
          </a:p>
        </p:txBody>
      </p:sp>
      <p:sp>
        <p:nvSpPr>
          <p:cNvPr id="16" name="Rectangle 15"/>
          <p:cNvSpPr/>
          <p:nvPr/>
        </p:nvSpPr>
        <p:spPr>
          <a:xfrm>
            <a:off x="7150608" y="2176272"/>
            <a:ext cx="1554480" cy="274320"/>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96328" y="2203704"/>
            <a:ext cx="1481328" cy="219456"/>
          </a:xfrm>
          <a:prstGeom prst="rect">
            <a:avLst/>
          </a:prstGeom>
          <a:noFill/>
        </p:spPr>
        <p:txBody>
          <a:bodyPr wrap="square">
            <a:spAutoFit/>
          </a:bodyPr>
          <a:lstStyle/>
          <a:p>
            <a:pPr algn="ctr"/>
            <a:r>
              <a:rPr sz="1000" b="1" i="0">
                <a:solidFill>
                  <a:srgbClr val="FFFFFF"/>
                </a:solidFill>
              </a:rPr>
              <a:t>Confluency %</a:t>
            </a:r>
          </a:p>
        </p:txBody>
      </p:sp>
      <p:sp>
        <p:nvSpPr>
          <p:cNvPr id="18" name="Rectangle 17"/>
          <p:cNvSpPr/>
          <p:nvPr/>
        </p:nvSpPr>
        <p:spPr>
          <a:xfrm>
            <a:off x="8723376" y="2176272"/>
            <a:ext cx="2606040" cy="274320"/>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69096" y="2203704"/>
            <a:ext cx="2532888" cy="219456"/>
          </a:xfrm>
          <a:prstGeom prst="rect">
            <a:avLst/>
          </a:prstGeom>
          <a:noFill/>
        </p:spPr>
        <p:txBody>
          <a:bodyPr wrap="square">
            <a:spAutoFit/>
          </a:bodyPr>
          <a:lstStyle/>
          <a:p>
            <a:pPr algn="ctr"/>
            <a:r>
              <a:rPr sz="1000" b="1" i="0">
                <a:solidFill>
                  <a:srgbClr val="FFFFFF"/>
                </a:solidFill>
              </a:rPr>
              <a:t>Effect</a:t>
            </a:r>
          </a:p>
        </p:txBody>
      </p:sp>
      <p:sp>
        <p:nvSpPr>
          <p:cNvPr id="20" name="Rectangle 19"/>
          <p:cNvSpPr/>
          <p:nvPr/>
        </p:nvSpPr>
        <p:spPr>
          <a:xfrm>
            <a:off x="5669280" y="2450592"/>
            <a:ext cx="1463040" cy="292608"/>
          </a:xfrm>
          <a:prstGeom prst="rect">
            <a:avLst/>
          </a:prstGeom>
          <a:solidFill>
            <a:srgbClr val="E2EFDA"/>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15000" y="2496312"/>
            <a:ext cx="1389888" cy="219456"/>
          </a:xfrm>
          <a:prstGeom prst="rect">
            <a:avLst/>
          </a:prstGeom>
          <a:noFill/>
        </p:spPr>
        <p:txBody>
          <a:bodyPr wrap="square">
            <a:spAutoFit/>
          </a:bodyPr>
          <a:lstStyle/>
          <a:p>
            <a:pPr algn="l"/>
            <a:r>
              <a:rPr sz="1000" b="1" i="0">
                <a:solidFill>
                  <a:srgbClr val="379637"/>
                </a:solidFill>
              </a:rPr>
              <a:t>GeneBK</a:t>
            </a:r>
          </a:p>
        </p:txBody>
      </p:sp>
      <p:sp>
        <p:nvSpPr>
          <p:cNvPr id="22" name="Rectangle 21"/>
          <p:cNvSpPr/>
          <p:nvPr/>
        </p:nvSpPr>
        <p:spPr>
          <a:xfrm>
            <a:off x="7150608" y="2450592"/>
            <a:ext cx="1554480" cy="292608"/>
          </a:xfrm>
          <a:prstGeom prst="rect">
            <a:avLst/>
          </a:prstGeom>
          <a:solidFill>
            <a:srgbClr val="E2EFDA"/>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96328" y="2496312"/>
            <a:ext cx="1481328" cy="219456"/>
          </a:xfrm>
          <a:prstGeom prst="rect">
            <a:avLst/>
          </a:prstGeom>
          <a:noFill/>
        </p:spPr>
        <p:txBody>
          <a:bodyPr wrap="square">
            <a:spAutoFit/>
          </a:bodyPr>
          <a:lstStyle/>
          <a:p>
            <a:pPr algn="ctr"/>
            <a:r>
              <a:rPr sz="1000" b="0" i="0">
                <a:solidFill>
                  <a:srgbClr val="379637"/>
                </a:solidFill>
              </a:rPr>
              <a:t>65.2%</a:t>
            </a:r>
          </a:p>
        </p:txBody>
      </p:sp>
      <p:sp>
        <p:nvSpPr>
          <p:cNvPr id="24" name="Rectangle 23"/>
          <p:cNvSpPr/>
          <p:nvPr/>
        </p:nvSpPr>
        <p:spPr>
          <a:xfrm>
            <a:off x="8723376" y="2450592"/>
            <a:ext cx="2606040" cy="292608"/>
          </a:xfrm>
          <a:prstGeom prst="rect">
            <a:avLst/>
          </a:prstGeom>
          <a:solidFill>
            <a:srgbClr val="E2EFDA"/>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69096" y="2496312"/>
            <a:ext cx="2532888" cy="219456"/>
          </a:xfrm>
          <a:prstGeom prst="rect">
            <a:avLst/>
          </a:prstGeom>
          <a:noFill/>
        </p:spPr>
        <p:txBody>
          <a:bodyPr wrap="square">
            <a:spAutoFit/>
          </a:bodyPr>
          <a:lstStyle/>
          <a:p>
            <a:pPr algn="l"/>
            <a:r>
              <a:rPr sz="1000" b="0" i="0">
                <a:solidFill>
                  <a:srgbClr val="1A1A1A"/>
                </a:solidFill>
              </a:rPr>
              <a:t>↓ Growth inhibition</a:t>
            </a:r>
          </a:p>
        </p:txBody>
      </p:sp>
      <p:sp>
        <p:nvSpPr>
          <p:cNvPr id="26" name="Rectangle 25"/>
          <p:cNvSpPr/>
          <p:nvPr/>
        </p:nvSpPr>
        <p:spPr>
          <a:xfrm>
            <a:off x="5669280" y="2761488"/>
            <a:ext cx="1463040" cy="292608"/>
          </a:xfrm>
          <a:prstGeom prst="rect">
            <a:avLst/>
          </a:prstGeom>
          <a:solidFill>
            <a:srgbClr val="FFFFFF"/>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15000" y="2807208"/>
            <a:ext cx="1389888" cy="219456"/>
          </a:xfrm>
          <a:prstGeom prst="rect">
            <a:avLst/>
          </a:prstGeom>
          <a:noFill/>
        </p:spPr>
        <p:txBody>
          <a:bodyPr wrap="square">
            <a:spAutoFit/>
          </a:bodyPr>
          <a:lstStyle/>
          <a:p>
            <a:pPr algn="l"/>
            <a:r>
              <a:rPr sz="1000" b="1" i="0">
                <a:solidFill>
                  <a:srgbClr val="379637"/>
                </a:solidFill>
              </a:rPr>
              <a:t>GeneBI</a:t>
            </a:r>
          </a:p>
        </p:txBody>
      </p:sp>
      <p:sp>
        <p:nvSpPr>
          <p:cNvPr id="28" name="Rectangle 27"/>
          <p:cNvSpPr/>
          <p:nvPr/>
        </p:nvSpPr>
        <p:spPr>
          <a:xfrm>
            <a:off x="7150608" y="2761488"/>
            <a:ext cx="1554480" cy="292608"/>
          </a:xfrm>
          <a:prstGeom prst="rect">
            <a:avLst/>
          </a:prstGeom>
          <a:solidFill>
            <a:srgbClr val="FFFFFF"/>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96328" y="2807208"/>
            <a:ext cx="1481328" cy="219456"/>
          </a:xfrm>
          <a:prstGeom prst="rect">
            <a:avLst/>
          </a:prstGeom>
          <a:noFill/>
        </p:spPr>
        <p:txBody>
          <a:bodyPr wrap="square">
            <a:spAutoFit/>
          </a:bodyPr>
          <a:lstStyle/>
          <a:p>
            <a:pPr algn="ctr"/>
            <a:r>
              <a:rPr sz="1000" b="0" i="0">
                <a:solidFill>
                  <a:srgbClr val="379637"/>
                </a:solidFill>
              </a:rPr>
              <a:t>79.1%</a:t>
            </a:r>
          </a:p>
        </p:txBody>
      </p:sp>
      <p:sp>
        <p:nvSpPr>
          <p:cNvPr id="30" name="Rectangle 29"/>
          <p:cNvSpPr/>
          <p:nvPr/>
        </p:nvSpPr>
        <p:spPr>
          <a:xfrm>
            <a:off x="8723376" y="2761488"/>
            <a:ext cx="2606040" cy="292608"/>
          </a:xfrm>
          <a:prstGeom prst="rect">
            <a:avLst/>
          </a:prstGeom>
          <a:solidFill>
            <a:srgbClr val="FFFFFF"/>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69096" y="2807208"/>
            <a:ext cx="2532888" cy="219456"/>
          </a:xfrm>
          <a:prstGeom prst="rect">
            <a:avLst/>
          </a:prstGeom>
          <a:noFill/>
        </p:spPr>
        <p:txBody>
          <a:bodyPr wrap="square">
            <a:spAutoFit/>
          </a:bodyPr>
          <a:lstStyle/>
          <a:p>
            <a:pPr algn="l"/>
            <a:r>
              <a:rPr sz="1000" b="0" i="0">
                <a:solidFill>
                  <a:srgbClr val="1A1A1A"/>
                </a:solidFill>
              </a:rPr>
              <a:t>↓ Growth inhibition</a:t>
            </a:r>
          </a:p>
        </p:txBody>
      </p:sp>
      <p:sp>
        <p:nvSpPr>
          <p:cNvPr id="32" name="Rectangle 31"/>
          <p:cNvSpPr/>
          <p:nvPr/>
        </p:nvSpPr>
        <p:spPr>
          <a:xfrm>
            <a:off x="5669280" y="3072384"/>
            <a:ext cx="1463040" cy="292608"/>
          </a:xfrm>
          <a:prstGeom prst="rect">
            <a:avLst/>
          </a:prstGeom>
          <a:solidFill>
            <a:srgbClr val="E2EFDA"/>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15000" y="3118104"/>
            <a:ext cx="1389888" cy="219456"/>
          </a:xfrm>
          <a:prstGeom prst="rect">
            <a:avLst/>
          </a:prstGeom>
          <a:noFill/>
        </p:spPr>
        <p:txBody>
          <a:bodyPr wrap="square">
            <a:spAutoFit/>
          </a:bodyPr>
          <a:lstStyle/>
          <a:p>
            <a:pPr algn="l"/>
            <a:r>
              <a:rPr sz="1000" b="1" i="0">
                <a:solidFill>
                  <a:srgbClr val="379637"/>
                </a:solidFill>
              </a:rPr>
              <a:t>GeneAG</a:t>
            </a:r>
          </a:p>
        </p:txBody>
      </p:sp>
      <p:sp>
        <p:nvSpPr>
          <p:cNvPr id="34" name="Rectangle 33"/>
          <p:cNvSpPr/>
          <p:nvPr/>
        </p:nvSpPr>
        <p:spPr>
          <a:xfrm>
            <a:off x="7150608" y="3072384"/>
            <a:ext cx="1554480" cy="292608"/>
          </a:xfrm>
          <a:prstGeom prst="rect">
            <a:avLst/>
          </a:prstGeom>
          <a:solidFill>
            <a:srgbClr val="E2EFDA"/>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96328" y="3118104"/>
            <a:ext cx="1481328" cy="219456"/>
          </a:xfrm>
          <a:prstGeom prst="rect">
            <a:avLst/>
          </a:prstGeom>
          <a:noFill/>
        </p:spPr>
        <p:txBody>
          <a:bodyPr wrap="square">
            <a:spAutoFit/>
          </a:bodyPr>
          <a:lstStyle/>
          <a:p>
            <a:pPr algn="ctr"/>
            <a:r>
              <a:rPr sz="1000" b="0" i="0">
                <a:solidFill>
                  <a:srgbClr val="379637"/>
                </a:solidFill>
              </a:rPr>
              <a:t>79.9%</a:t>
            </a:r>
          </a:p>
        </p:txBody>
      </p:sp>
      <p:sp>
        <p:nvSpPr>
          <p:cNvPr id="36" name="Rectangle 35"/>
          <p:cNvSpPr/>
          <p:nvPr/>
        </p:nvSpPr>
        <p:spPr>
          <a:xfrm>
            <a:off x="8723376" y="3072384"/>
            <a:ext cx="2606040" cy="292608"/>
          </a:xfrm>
          <a:prstGeom prst="rect">
            <a:avLst/>
          </a:prstGeom>
          <a:solidFill>
            <a:srgbClr val="E2EFDA"/>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69096" y="3118104"/>
            <a:ext cx="2532888" cy="219456"/>
          </a:xfrm>
          <a:prstGeom prst="rect">
            <a:avLst/>
          </a:prstGeom>
          <a:noFill/>
        </p:spPr>
        <p:txBody>
          <a:bodyPr wrap="square">
            <a:spAutoFit/>
          </a:bodyPr>
          <a:lstStyle/>
          <a:p>
            <a:pPr algn="l"/>
            <a:r>
              <a:rPr sz="1000" b="0" i="0">
                <a:solidFill>
                  <a:srgbClr val="1A1A1A"/>
                </a:solidFill>
              </a:rPr>
              <a:t>↓ Growth inhibition</a:t>
            </a:r>
          </a:p>
        </p:txBody>
      </p:sp>
      <p:sp>
        <p:nvSpPr>
          <p:cNvPr id="38" name="Rectangle 37"/>
          <p:cNvSpPr/>
          <p:nvPr/>
        </p:nvSpPr>
        <p:spPr>
          <a:xfrm>
            <a:off x="5669280" y="3383280"/>
            <a:ext cx="1463040" cy="292608"/>
          </a:xfrm>
          <a:prstGeom prst="rect">
            <a:avLst/>
          </a:prstGeom>
          <a:solidFill>
            <a:srgbClr val="FFF3E8"/>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5000" y="3429000"/>
            <a:ext cx="1389888" cy="219456"/>
          </a:xfrm>
          <a:prstGeom prst="rect">
            <a:avLst/>
          </a:prstGeom>
          <a:noFill/>
        </p:spPr>
        <p:txBody>
          <a:bodyPr wrap="square">
            <a:spAutoFit/>
          </a:bodyPr>
          <a:lstStyle/>
          <a:p>
            <a:pPr algn="l"/>
            <a:r>
              <a:rPr sz="1000" b="1" i="0">
                <a:solidFill>
                  <a:srgbClr val="C55A11"/>
                </a:solidFill>
              </a:rPr>
              <a:t>GeneAC</a:t>
            </a:r>
          </a:p>
        </p:txBody>
      </p:sp>
      <p:sp>
        <p:nvSpPr>
          <p:cNvPr id="40" name="Rectangle 39"/>
          <p:cNvSpPr/>
          <p:nvPr/>
        </p:nvSpPr>
        <p:spPr>
          <a:xfrm>
            <a:off x="7150608" y="3383280"/>
            <a:ext cx="1554480" cy="292608"/>
          </a:xfrm>
          <a:prstGeom prst="rect">
            <a:avLst/>
          </a:prstGeom>
          <a:solidFill>
            <a:srgbClr val="FFF3E8"/>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96328" y="3429000"/>
            <a:ext cx="1481328" cy="219456"/>
          </a:xfrm>
          <a:prstGeom prst="rect">
            <a:avLst/>
          </a:prstGeom>
          <a:noFill/>
        </p:spPr>
        <p:txBody>
          <a:bodyPr wrap="square">
            <a:spAutoFit/>
          </a:bodyPr>
          <a:lstStyle/>
          <a:p>
            <a:pPr algn="ctr"/>
            <a:r>
              <a:rPr sz="1000" b="0" i="0">
                <a:solidFill>
                  <a:srgbClr val="C55A11"/>
                </a:solidFill>
              </a:rPr>
              <a:t>126.1%</a:t>
            </a:r>
          </a:p>
        </p:txBody>
      </p:sp>
      <p:sp>
        <p:nvSpPr>
          <p:cNvPr id="42" name="Rectangle 41"/>
          <p:cNvSpPr/>
          <p:nvPr/>
        </p:nvSpPr>
        <p:spPr>
          <a:xfrm>
            <a:off x="8723376" y="3383280"/>
            <a:ext cx="2606040" cy="292608"/>
          </a:xfrm>
          <a:prstGeom prst="rect">
            <a:avLst/>
          </a:prstGeom>
          <a:solidFill>
            <a:srgbClr val="FFF3E8"/>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69096" y="3429000"/>
            <a:ext cx="2532888" cy="219456"/>
          </a:xfrm>
          <a:prstGeom prst="rect">
            <a:avLst/>
          </a:prstGeom>
          <a:noFill/>
        </p:spPr>
        <p:txBody>
          <a:bodyPr wrap="square">
            <a:spAutoFit/>
          </a:bodyPr>
          <a:lstStyle/>
          <a:p>
            <a:pPr algn="l"/>
            <a:r>
              <a:rPr sz="1000" b="0" i="0">
                <a:solidFill>
                  <a:srgbClr val="1A1A1A"/>
                </a:solidFill>
              </a:rPr>
              <a:t>↑ Enhanced growth</a:t>
            </a:r>
          </a:p>
        </p:txBody>
      </p:sp>
      <p:sp>
        <p:nvSpPr>
          <p:cNvPr id="44" name="Rectangle 43"/>
          <p:cNvSpPr/>
          <p:nvPr/>
        </p:nvSpPr>
        <p:spPr>
          <a:xfrm>
            <a:off x="5669280" y="3694176"/>
            <a:ext cx="1463040" cy="292608"/>
          </a:xfrm>
          <a:prstGeom prst="rect">
            <a:avLst/>
          </a:prstGeom>
          <a:solidFill>
            <a:srgbClr val="FFFFFF"/>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715000" y="3739896"/>
            <a:ext cx="1389888" cy="219456"/>
          </a:xfrm>
          <a:prstGeom prst="rect">
            <a:avLst/>
          </a:prstGeom>
          <a:noFill/>
        </p:spPr>
        <p:txBody>
          <a:bodyPr wrap="square">
            <a:spAutoFit/>
          </a:bodyPr>
          <a:lstStyle/>
          <a:p>
            <a:pPr algn="l"/>
            <a:r>
              <a:rPr sz="1000" b="1" i="0">
                <a:solidFill>
                  <a:srgbClr val="C55A11"/>
                </a:solidFill>
              </a:rPr>
              <a:t>GeneX</a:t>
            </a:r>
          </a:p>
        </p:txBody>
      </p:sp>
      <p:sp>
        <p:nvSpPr>
          <p:cNvPr id="46" name="Rectangle 45"/>
          <p:cNvSpPr/>
          <p:nvPr/>
        </p:nvSpPr>
        <p:spPr>
          <a:xfrm>
            <a:off x="7150608" y="3694176"/>
            <a:ext cx="1554480" cy="292608"/>
          </a:xfrm>
          <a:prstGeom prst="rect">
            <a:avLst/>
          </a:prstGeom>
          <a:solidFill>
            <a:srgbClr val="FFFFFF"/>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96328" y="3739896"/>
            <a:ext cx="1481328" cy="219456"/>
          </a:xfrm>
          <a:prstGeom prst="rect">
            <a:avLst/>
          </a:prstGeom>
          <a:noFill/>
        </p:spPr>
        <p:txBody>
          <a:bodyPr wrap="square">
            <a:spAutoFit/>
          </a:bodyPr>
          <a:lstStyle/>
          <a:p>
            <a:pPr algn="ctr"/>
            <a:r>
              <a:rPr sz="1000" b="0" i="0">
                <a:solidFill>
                  <a:srgbClr val="C55A11"/>
                </a:solidFill>
              </a:rPr>
              <a:t>124.5%</a:t>
            </a:r>
          </a:p>
        </p:txBody>
      </p:sp>
      <p:sp>
        <p:nvSpPr>
          <p:cNvPr id="48" name="Rectangle 47"/>
          <p:cNvSpPr/>
          <p:nvPr/>
        </p:nvSpPr>
        <p:spPr>
          <a:xfrm>
            <a:off x="8723376" y="3694176"/>
            <a:ext cx="2606040" cy="292608"/>
          </a:xfrm>
          <a:prstGeom prst="rect">
            <a:avLst/>
          </a:prstGeom>
          <a:solidFill>
            <a:srgbClr val="FFFFFF"/>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69096" y="3739896"/>
            <a:ext cx="2532888" cy="219456"/>
          </a:xfrm>
          <a:prstGeom prst="rect">
            <a:avLst/>
          </a:prstGeom>
          <a:noFill/>
        </p:spPr>
        <p:txBody>
          <a:bodyPr wrap="square">
            <a:spAutoFit/>
          </a:bodyPr>
          <a:lstStyle/>
          <a:p>
            <a:pPr algn="l"/>
            <a:r>
              <a:rPr sz="1000" b="0" i="0">
                <a:solidFill>
                  <a:srgbClr val="1A1A1A"/>
                </a:solidFill>
              </a:rPr>
              <a:t>↑ Enhanced growth</a:t>
            </a:r>
          </a:p>
        </p:txBody>
      </p:sp>
      <p:sp>
        <p:nvSpPr>
          <p:cNvPr id="50" name="Rectangle 49"/>
          <p:cNvSpPr/>
          <p:nvPr/>
        </p:nvSpPr>
        <p:spPr>
          <a:xfrm>
            <a:off x="5669280" y="4005072"/>
            <a:ext cx="1463040" cy="292608"/>
          </a:xfrm>
          <a:prstGeom prst="rect">
            <a:avLst/>
          </a:prstGeom>
          <a:solidFill>
            <a:srgbClr val="FFF3E8"/>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715000" y="4050792"/>
            <a:ext cx="1389888" cy="219456"/>
          </a:xfrm>
          <a:prstGeom prst="rect">
            <a:avLst/>
          </a:prstGeom>
          <a:noFill/>
        </p:spPr>
        <p:txBody>
          <a:bodyPr wrap="square">
            <a:spAutoFit/>
          </a:bodyPr>
          <a:lstStyle/>
          <a:p>
            <a:pPr algn="l"/>
            <a:r>
              <a:rPr sz="1000" b="1" i="0">
                <a:solidFill>
                  <a:srgbClr val="C55A11"/>
                </a:solidFill>
              </a:rPr>
              <a:t>GeneE</a:t>
            </a:r>
          </a:p>
        </p:txBody>
      </p:sp>
      <p:sp>
        <p:nvSpPr>
          <p:cNvPr id="52" name="Rectangle 51"/>
          <p:cNvSpPr/>
          <p:nvPr/>
        </p:nvSpPr>
        <p:spPr>
          <a:xfrm>
            <a:off x="7150608" y="4005072"/>
            <a:ext cx="1554480" cy="292608"/>
          </a:xfrm>
          <a:prstGeom prst="rect">
            <a:avLst/>
          </a:prstGeom>
          <a:solidFill>
            <a:srgbClr val="FFF3E8"/>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96328" y="4050792"/>
            <a:ext cx="1481328" cy="219456"/>
          </a:xfrm>
          <a:prstGeom prst="rect">
            <a:avLst/>
          </a:prstGeom>
          <a:noFill/>
        </p:spPr>
        <p:txBody>
          <a:bodyPr wrap="square">
            <a:spAutoFit/>
          </a:bodyPr>
          <a:lstStyle/>
          <a:p>
            <a:pPr algn="ctr"/>
            <a:r>
              <a:rPr sz="1000" b="0" i="0">
                <a:solidFill>
                  <a:srgbClr val="C55A11"/>
                </a:solidFill>
              </a:rPr>
              <a:t>124.0%</a:t>
            </a:r>
          </a:p>
        </p:txBody>
      </p:sp>
      <p:sp>
        <p:nvSpPr>
          <p:cNvPr id="54" name="Rectangle 53"/>
          <p:cNvSpPr/>
          <p:nvPr/>
        </p:nvSpPr>
        <p:spPr>
          <a:xfrm>
            <a:off x="8723376" y="4005072"/>
            <a:ext cx="2606040" cy="292608"/>
          </a:xfrm>
          <a:prstGeom prst="rect">
            <a:avLst/>
          </a:prstGeom>
          <a:solidFill>
            <a:srgbClr val="FFF3E8"/>
          </a:solidFill>
          <a:ln w="508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9096" y="4050792"/>
            <a:ext cx="2532888" cy="219456"/>
          </a:xfrm>
          <a:prstGeom prst="rect">
            <a:avLst/>
          </a:prstGeom>
          <a:noFill/>
        </p:spPr>
        <p:txBody>
          <a:bodyPr wrap="square">
            <a:spAutoFit/>
          </a:bodyPr>
          <a:lstStyle/>
          <a:p>
            <a:pPr algn="l"/>
            <a:r>
              <a:rPr sz="1000" b="0" i="0">
                <a:solidFill>
                  <a:srgbClr val="1A1A1A"/>
                </a:solidFill>
              </a:rPr>
              <a:t>↑ Enhanced growth</a:t>
            </a:r>
          </a:p>
        </p:txBody>
      </p:sp>
      <p:sp>
        <p:nvSpPr>
          <p:cNvPr id="56" name="Rectangle 55"/>
          <p:cNvSpPr/>
          <p:nvPr/>
        </p:nvSpPr>
        <p:spPr>
          <a:xfrm>
            <a:off x="274320" y="3767328"/>
            <a:ext cx="11640312" cy="2633472"/>
          </a:xfrm>
          <a:prstGeom prst="rect">
            <a:avLst/>
          </a:prstGeom>
          <a:solidFill>
            <a:srgbClr val="F5F9FF"/>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74320" y="3767328"/>
            <a:ext cx="11640312"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3840480"/>
            <a:ext cx="8686800" cy="329184"/>
          </a:xfrm>
          <a:prstGeom prst="rect">
            <a:avLst/>
          </a:prstGeom>
          <a:noFill/>
        </p:spPr>
        <p:txBody>
          <a:bodyPr wrap="square">
            <a:spAutoFit/>
          </a:bodyPr>
          <a:lstStyle/>
          <a:p>
            <a:pPr algn="l"/>
            <a:r>
              <a:rPr sz="1400" b="1" i="0">
                <a:solidFill>
                  <a:srgbClr val="FFFFFF"/>
                </a:solidFill>
              </a:rPr>
              <a:t>Several Time Points  |  Multiple Controls  (23 time points, 3 h intervals, ~69 h total)</a:t>
            </a:r>
          </a:p>
        </p:txBody>
      </p:sp>
      <p:sp>
        <p:nvSpPr>
          <p:cNvPr id="59" name="Rectangle 58"/>
          <p:cNvSpPr/>
          <p:nvPr/>
        </p:nvSpPr>
        <p:spPr>
          <a:xfrm>
            <a:off x="9601200" y="3858768"/>
            <a:ext cx="2148840" cy="292608"/>
          </a:xfrm>
          <a:prstGeom prst="rect">
            <a:avLst/>
          </a:prstGeom>
          <a:solidFill>
            <a:srgbClr val="1F86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619488" y="3867912"/>
            <a:ext cx="2112264" cy="256032"/>
          </a:xfrm>
          <a:prstGeom prst="rect">
            <a:avLst/>
          </a:prstGeom>
          <a:noFill/>
        </p:spPr>
        <p:txBody>
          <a:bodyPr wrap="square">
            <a:spAutoFit/>
          </a:bodyPr>
          <a:lstStyle/>
          <a:p>
            <a:pPr algn="ctr"/>
            <a:r>
              <a:rPr sz="1100" b="1" i="0">
                <a:solidFill>
                  <a:srgbClr val="FFFFFF"/>
                </a:solidFill>
              </a:rPr>
              <a:t>✅  COMPLETE</a:t>
            </a:r>
          </a:p>
        </p:txBody>
      </p:sp>
      <p:sp>
        <p:nvSpPr>
          <p:cNvPr id="61" name="TextBox 60"/>
          <p:cNvSpPr txBox="1"/>
          <p:nvPr/>
        </p:nvSpPr>
        <p:spPr>
          <a:xfrm>
            <a:off x="457200" y="4315968"/>
            <a:ext cx="11247120" cy="292608"/>
          </a:xfrm>
          <a:prstGeom prst="rect">
            <a:avLst/>
          </a:prstGeom>
          <a:noFill/>
        </p:spPr>
        <p:txBody>
          <a:bodyPr wrap="square">
            <a:spAutoFit/>
          </a:bodyPr>
          <a:lstStyle/>
          <a:p>
            <a:pPr algn="l"/>
            <a:r>
              <a:rPr sz="1100" b="0" i="1">
                <a:solidFill>
                  <a:srgbClr val="1A375E"/>
                </a:solidFill>
              </a:rPr>
              <a:t>Same perturbagens measured across time, enabling growth kinetics and rate calculations per target.</a:t>
            </a:r>
          </a:p>
        </p:txBody>
      </p:sp>
      <p:sp>
        <p:nvSpPr>
          <p:cNvPr id="62" name="TextBox 61"/>
          <p:cNvSpPr txBox="1"/>
          <p:nvPr/>
        </p:nvSpPr>
        <p:spPr>
          <a:xfrm>
            <a:off x="457200" y="4663440"/>
            <a:ext cx="7772400" cy="1627632"/>
          </a:xfrm>
          <a:prstGeom prst="rect">
            <a:avLst/>
          </a:prstGeom>
          <a:noFill/>
        </p:spPr>
        <p:txBody>
          <a:bodyPr wrap="square">
            <a:spAutoFit/>
          </a:bodyPr>
          <a:lstStyle/>
          <a:p>
            <a:pPr>
              <a:spcBef>
                <a:spcPts val="400"/>
              </a:spcBef>
            </a:pPr>
            <a:r>
              <a:rPr sz="1100">
                <a:solidFill>
                  <a:srgbClr val="1A1A1A"/>
                </a:solidFill>
              </a:rPr>
              <a:t>•  Growth rate computed at each time point as a ratio to matched control</a:t>
            </a:r>
          </a:p>
          <a:p>
            <a:pPr>
              <a:spcBef>
                <a:spcPts val="400"/>
              </a:spcBef>
            </a:pPr>
            <a:r>
              <a:rPr sz="1100">
                <a:solidFill>
                  <a:srgbClr val="1A1A1A"/>
                </a:solidFill>
              </a:rPr>
              <a:t>•  Growth rate &gt; 1.0 — cells proliferating faster (possible tumour suppressor knockdown)</a:t>
            </a:r>
          </a:p>
          <a:p>
            <a:pPr>
              <a:spcBef>
                <a:spcPts val="400"/>
              </a:spcBef>
            </a:pPr>
            <a:r>
              <a:rPr sz="1100">
                <a:solidFill>
                  <a:srgbClr val="1A1A1A"/>
                </a:solidFill>
              </a:rPr>
              <a:t>•  Growth rate &lt; 1.0 — cells proliferating slower (growth-promoting gene silenced)</a:t>
            </a:r>
          </a:p>
          <a:p>
            <a:pPr>
              <a:spcBef>
                <a:spcPts val="400"/>
              </a:spcBef>
            </a:pPr>
            <a:r>
              <a:rPr sz="1100">
                <a:solidFill>
                  <a:srgbClr val="1A1A1A"/>
                </a:solidFill>
              </a:rPr>
              <a:t>•  Multiple independent control groups enable robust plate-wide normalisation</a:t>
            </a:r>
          </a:p>
          <a:p>
            <a:pPr>
              <a:spcBef>
                <a:spcPts val="400"/>
              </a:spcBef>
            </a:pPr>
            <a:r>
              <a:rPr sz="1100">
                <a:solidFill>
                  <a:srgbClr val="1A1A1A"/>
                </a:solidFill>
              </a:rPr>
              <a:t>•  Time-resolved data reveals whether effects are immediate, delayed, or transient</a:t>
            </a:r>
          </a:p>
        </p:txBody>
      </p:sp>
      <p:sp>
        <p:nvSpPr>
          <p:cNvPr id="63" name="Rectangle 62"/>
          <p:cNvSpPr/>
          <p:nvPr/>
        </p:nvSpPr>
        <p:spPr>
          <a:xfrm>
            <a:off x="8412480" y="4636008"/>
            <a:ext cx="3337560" cy="1664208"/>
          </a:xfrm>
          <a:prstGeom prst="rect">
            <a:avLst/>
          </a:prstGeom>
          <a:solidFill>
            <a:srgbClr val="F3EEFA"/>
          </a:solidFill>
          <a:ln w="15240">
            <a:solidFill>
              <a:srgbClr val="5B2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503920" y="4681728"/>
            <a:ext cx="2240280" cy="256032"/>
          </a:xfrm>
          <a:prstGeom prst="rect">
            <a:avLst/>
          </a:prstGeom>
          <a:solidFill>
            <a:srgbClr val="5B2D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77072" y="4718304"/>
            <a:ext cx="2130552" cy="201168"/>
          </a:xfrm>
          <a:prstGeom prst="rect">
            <a:avLst/>
          </a:prstGeom>
          <a:noFill/>
        </p:spPr>
        <p:txBody>
          <a:bodyPr wrap="square">
            <a:spAutoFit/>
          </a:bodyPr>
          <a:lstStyle/>
          <a:p>
            <a:pPr algn="l"/>
            <a:r>
              <a:rPr sz="1000" b="1" i="0">
                <a:solidFill>
                  <a:srgbClr val="FFFFFF"/>
                </a:solidFill>
              </a:rPr>
              <a:t>🤖  AI-Assisted Interpretation</a:t>
            </a:r>
          </a:p>
        </p:txBody>
      </p:sp>
      <p:sp>
        <p:nvSpPr>
          <p:cNvPr id="66" name="TextBox 65"/>
          <p:cNvSpPr txBox="1"/>
          <p:nvPr/>
        </p:nvSpPr>
        <p:spPr>
          <a:xfrm>
            <a:off x="8503920" y="5001768"/>
            <a:ext cx="3154680" cy="1188720"/>
          </a:xfrm>
          <a:prstGeom prst="rect">
            <a:avLst/>
          </a:prstGeom>
          <a:noFill/>
        </p:spPr>
        <p:txBody>
          <a:bodyPr wrap="square">
            <a:spAutoFit/>
          </a:bodyPr>
          <a:lstStyle/>
          <a:p>
            <a:pPr algn="l"/>
            <a:r>
              <a:rPr sz="1000" b="0" i="1">
                <a:solidFill>
                  <a:srgbClr val="1A1A1A"/>
                </a:solidFill>
              </a:rPr>
              <a:t>Time-course data provides richer biological insight than endpoint alone — a perturbagen with a delayed growth rate change may reflect an indirect or adaptive cellular response.</a:t>
            </a:r>
          </a:p>
        </p:txBody>
      </p:sp>
      <p:sp>
        <p:nvSpPr>
          <p:cNvPr id="67" name="Rectangle 66"/>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6 of 7</a:t>
            </a:r>
          </a:p>
        </p:txBody>
      </p:sp>
      <p:sp>
        <p:nvSpPr>
          <p:cNvPr id="69" name="TextBox 68"/>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804672"/>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8046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91440"/>
            <a:ext cx="11704320" cy="502920"/>
          </a:xfrm>
          <a:prstGeom prst="rect">
            <a:avLst/>
          </a:prstGeom>
          <a:noFill/>
        </p:spPr>
        <p:txBody>
          <a:bodyPr wrap="square">
            <a:spAutoFit/>
          </a:bodyPr>
          <a:lstStyle/>
          <a:p>
            <a:pPr algn="l"/>
            <a:r>
              <a:rPr sz="2600" b="1" i="0">
                <a:solidFill>
                  <a:srgbClr val="FFFFFF"/>
                </a:solidFill>
              </a:rPr>
              <a:t>AI-Assisted Results Interpretation</a:t>
            </a:r>
          </a:p>
        </p:txBody>
      </p:sp>
      <p:sp>
        <p:nvSpPr>
          <p:cNvPr id="5" name="TextBox 4"/>
          <p:cNvSpPr txBox="1"/>
          <p:nvPr/>
        </p:nvSpPr>
        <p:spPr>
          <a:xfrm>
            <a:off x="228600" y="548640"/>
            <a:ext cx="11704320" cy="228600"/>
          </a:xfrm>
          <a:prstGeom prst="rect">
            <a:avLst/>
          </a:prstGeom>
          <a:noFill/>
        </p:spPr>
        <p:txBody>
          <a:bodyPr wrap="square">
            <a:spAutoFit/>
          </a:bodyPr>
          <a:lstStyle/>
          <a:p>
            <a:pPr algn="l"/>
            <a:r>
              <a:rPr sz="1200" b="0" i="0">
                <a:solidFill>
                  <a:srgbClr val="BDD7EE"/>
                </a:solidFill>
              </a:rPr>
              <a:t>Interactive Claude-powered chat interface built on top of HTSplotter</a:t>
            </a:r>
          </a:p>
        </p:txBody>
      </p:sp>
      <p:sp>
        <p:nvSpPr>
          <p:cNvPr id="6" name="Rectangle 5"/>
          <p:cNvSpPr/>
          <p:nvPr/>
        </p:nvSpPr>
        <p:spPr>
          <a:xfrm>
            <a:off x="274320" y="914400"/>
            <a:ext cx="11640312" cy="658368"/>
          </a:xfrm>
          <a:prstGeom prst="rect">
            <a:avLst/>
          </a:prstGeom>
          <a:solidFill>
            <a:srgbClr val="EFF4FB"/>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78408"/>
            <a:ext cx="11247120" cy="530352"/>
          </a:xfrm>
          <a:prstGeom prst="rect">
            <a:avLst/>
          </a:prstGeom>
          <a:noFill/>
        </p:spPr>
        <p:txBody>
          <a:bodyPr wrap="square">
            <a:spAutoFit/>
          </a:bodyPr>
          <a:lstStyle/>
          <a:p>
            <a:pPr algn="l"/>
            <a:r>
              <a:rPr sz="1200" b="0" i="0">
                <a:solidFill>
                  <a:srgbClr val="1A375E"/>
                </a:solidFill>
              </a:rPr>
              <a:t>After running any HTSplotter analysis, researchers can ask plain-English questions about their results using an AI chat interface powered by the Anthropic Claude API (claude-opus-4-7). No bioinformatics expertise required — just type your question.</a:t>
            </a:r>
          </a:p>
        </p:txBody>
      </p:sp>
      <p:sp>
        <p:nvSpPr>
          <p:cNvPr id="8" name="Rectangle 7"/>
          <p:cNvSpPr/>
          <p:nvPr/>
        </p:nvSpPr>
        <p:spPr>
          <a:xfrm>
            <a:off x="274320" y="1664208"/>
            <a:ext cx="5394960" cy="4782312"/>
          </a:xfrm>
          <a:prstGeom prst="rect">
            <a:avLst/>
          </a:prstGeom>
          <a:solidFill>
            <a:srgbClr val="F5F9FF"/>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737360"/>
            <a:ext cx="5029200" cy="347472"/>
          </a:xfrm>
          <a:prstGeom prst="rect">
            <a:avLst/>
          </a:prstGeom>
          <a:noFill/>
        </p:spPr>
        <p:txBody>
          <a:bodyPr wrap="square">
            <a:spAutoFit/>
          </a:bodyPr>
          <a:lstStyle/>
          <a:p>
            <a:pPr algn="l"/>
            <a:r>
              <a:rPr sz="1500" b="1" i="0">
                <a:solidFill>
                  <a:srgbClr val="1A375E"/>
                </a:solidFill>
              </a:rPr>
              <a:t>How It Works</a:t>
            </a:r>
          </a:p>
        </p:txBody>
      </p:sp>
      <p:sp>
        <p:nvSpPr>
          <p:cNvPr id="10" name="Rectangle 9"/>
          <p:cNvSpPr/>
          <p:nvPr/>
        </p:nvSpPr>
        <p:spPr>
          <a:xfrm>
            <a:off x="384048" y="2176272"/>
            <a:ext cx="475488"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336" y="2249424"/>
            <a:ext cx="438912" cy="329184"/>
          </a:xfrm>
          <a:prstGeom prst="rect">
            <a:avLst/>
          </a:prstGeom>
          <a:noFill/>
        </p:spPr>
        <p:txBody>
          <a:bodyPr wrap="square">
            <a:spAutoFit/>
          </a:bodyPr>
          <a:lstStyle/>
          <a:p>
            <a:pPr algn="ctr"/>
            <a:r>
              <a:rPr sz="1600" b="1" i="0">
                <a:solidFill>
                  <a:srgbClr val="FFFFFF"/>
                </a:solidFill>
              </a:rPr>
              <a:t>1</a:t>
            </a:r>
          </a:p>
        </p:txBody>
      </p:sp>
      <p:sp>
        <p:nvSpPr>
          <p:cNvPr id="12" name="TextBox 11"/>
          <p:cNvSpPr txBox="1"/>
          <p:nvPr/>
        </p:nvSpPr>
        <p:spPr>
          <a:xfrm>
            <a:off x="960120" y="2194560"/>
            <a:ext cx="4526280" cy="237744"/>
          </a:xfrm>
          <a:prstGeom prst="rect">
            <a:avLst/>
          </a:prstGeom>
          <a:noFill/>
        </p:spPr>
        <p:txBody>
          <a:bodyPr wrap="square">
            <a:spAutoFit/>
          </a:bodyPr>
          <a:lstStyle/>
          <a:p>
            <a:pPr algn="l"/>
            <a:r>
              <a:rPr sz="1100" b="1" i="0">
                <a:solidFill>
                  <a:srgbClr val="1A375E"/>
                </a:solidFill>
              </a:rPr>
              <a:t>Run HTSplotter</a:t>
            </a:r>
          </a:p>
        </p:txBody>
      </p:sp>
      <p:sp>
        <p:nvSpPr>
          <p:cNvPr id="13" name="TextBox 12"/>
          <p:cNvSpPr txBox="1"/>
          <p:nvPr/>
        </p:nvSpPr>
        <p:spPr>
          <a:xfrm>
            <a:off x="960120" y="2423160"/>
            <a:ext cx="4526280" cy="548640"/>
          </a:xfrm>
          <a:prstGeom prst="rect">
            <a:avLst/>
          </a:prstGeom>
          <a:noFill/>
        </p:spPr>
        <p:txBody>
          <a:bodyPr wrap="square">
            <a:spAutoFit/>
          </a:bodyPr>
          <a:lstStyle/>
          <a:p>
            <a:pPr algn="l"/>
            <a:r>
              <a:rPr sz="1000" b="0" i="0">
                <a:solidFill>
                  <a:srgbClr val="1A1A1A"/>
                </a:solidFill>
              </a:rPr>
              <a:t>Execute any analysis (drug screen, combination, genetic). Results are saved as .txt files in the output_results/ folder.</a:t>
            </a:r>
          </a:p>
        </p:txBody>
      </p:sp>
      <p:sp>
        <p:nvSpPr>
          <p:cNvPr id="14" name="Rectangle 13"/>
          <p:cNvSpPr/>
          <p:nvPr/>
        </p:nvSpPr>
        <p:spPr>
          <a:xfrm>
            <a:off x="384048" y="3026664"/>
            <a:ext cx="475488"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 y="3099816"/>
            <a:ext cx="438912" cy="329184"/>
          </a:xfrm>
          <a:prstGeom prst="rect">
            <a:avLst/>
          </a:prstGeom>
          <a:noFill/>
        </p:spPr>
        <p:txBody>
          <a:bodyPr wrap="square">
            <a:spAutoFit/>
          </a:bodyPr>
          <a:lstStyle/>
          <a:p>
            <a:pPr algn="ctr"/>
            <a:r>
              <a:rPr sz="1600" b="1" i="0">
                <a:solidFill>
                  <a:srgbClr val="FFFFFF"/>
                </a:solidFill>
              </a:rPr>
              <a:t>2</a:t>
            </a:r>
          </a:p>
        </p:txBody>
      </p:sp>
      <p:sp>
        <p:nvSpPr>
          <p:cNvPr id="16" name="TextBox 15"/>
          <p:cNvSpPr txBox="1"/>
          <p:nvPr/>
        </p:nvSpPr>
        <p:spPr>
          <a:xfrm>
            <a:off x="960120" y="3044952"/>
            <a:ext cx="4526280" cy="237744"/>
          </a:xfrm>
          <a:prstGeom prst="rect">
            <a:avLst/>
          </a:prstGeom>
          <a:noFill/>
        </p:spPr>
        <p:txBody>
          <a:bodyPr wrap="square">
            <a:spAutoFit/>
          </a:bodyPr>
          <a:lstStyle/>
          <a:p>
            <a:pPr algn="l"/>
            <a:r>
              <a:rPr sz="1100" b="1" i="0">
                <a:solidFill>
                  <a:srgbClr val="1A375E"/>
                </a:solidFill>
              </a:rPr>
              <a:t>Set your API key</a:t>
            </a:r>
          </a:p>
        </p:txBody>
      </p:sp>
      <p:sp>
        <p:nvSpPr>
          <p:cNvPr id="17" name="TextBox 16"/>
          <p:cNvSpPr txBox="1"/>
          <p:nvPr/>
        </p:nvSpPr>
        <p:spPr>
          <a:xfrm>
            <a:off x="960120" y="3273552"/>
            <a:ext cx="4526280" cy="548640"/>
          </a:xfrm>
          <a:prstGeom prst="rect">
            <a:avLst/>
          </a:prstGeom>
          <a:noFill/>
        </p:spPr>
        <p:txBody>
          <a:bodyPr wrap="square">
            <a:spAutoFit/>
          </a:bodyPr>
          <a:lstStyle/>
          <a:p>
            <a:pPr algn="l"/>
            <a:r>
              <a:rPr sz="1000" b="0" i="0">
                <a:solidFill>
                  <a:srgbClr val="1A1A1A"/>
                </a:solidFill>
              </a:rPr>
              <a:t>Get a free API key from console.anthropic.com. Set it once: export ANTHROPIC_API_KEY='sk-ant-...'</a:t>
            </a:r>
          </a:p>
        </p:txBody>
      </p:sp>
      <p:sp>
        <p:nvSpPr>
          <p:cNvPr id="18" name="Rectangle 17"/>
          <p:cNvSpPr/>
          <p:nvPr/>
        </p:nvSpPr>
        <p:spPr>
          <a:xfrm>
            <a:off x="384048" y="3877056"/>
            <a:ext cx="475488"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2336" y="3950208"/>
            <a:ext cx="438912" cy="329184"/>
          </a:xfrm>
          <a:prstGeom prst="rect">
            <a:avLst/>
          </a:prstGeom>
          <a:noFill/>
        </p:spPr>
        <p:txBody>
          <a:bodyPr wrap="square">
            <a:spAutoFit/>
          </a:bodyPr>
          <a:lstStyle/>
          <a:p>
            <a:pPr algn="ctr"/>
            <a:r>
              <a:rPr sz="1600" b="1" i="0">
                <a:solidFill>
                  <a:srgbClr val="FFFFFF"/>
                </a:solidFill>
              </a:rPr>
              <a:t>3</a:t>
            </a:r>
          </a:p>
        </p:txBody>
      </p:sp>
      <p:sp>
        <p:nvSpPr>
          <p:cNvPr id="20" name="TextBox 19"/>
          <p:cNvSpPr txBox="1"/>
          <p:nvPr/>
        </p:nvSpPr>
        <p:spPr>
          <a:xfrm>
            <a:off x="960120" y="3895344"/>
            <a:ext cx="4526280" cy="237744"/>
          </a:xfrm>
          <a:prstGeom prst="rect">
            <a:avLst/>
          </a:prstGeom>
          <a:noFill/>
        </p:spPr>
        <p:txBody>
          <a:bodyPr wrap="square">
            <a:spAutoFit/>
          </a:bodyPr>
          <a:lstStyle/>
          <a:p>
            <a:pPr algn="l"/>
            <a:r>
              <a:rPr sz="1100" b="1" i="0">
                <a:solidFill>
                  <a:srgbClr val="1A375E"/>
                </a:solidFill>
              </a:rPr>
              <a:t>Launch the chat</a:t>
            </a:r>
          </a:p>
        </p:txBody>
      </p:sp>
      <p:sp>
        <p:nvSpPr>
          <p:cNvPr id="21" name="TextBox 20"/>
          <p:cNvSpPr txBox="1"/>
          <p:nvPr/>
        </p:nvSpPr>
        <p:spPr>
          <a:xfrm>
            <a:off x="960120" y="4123944"/>
            <a:ext cx="4526280" cy="548640"/>
          </a:xfrm>
          <a:prstGeom prst="rect">
            <a:avLst/>
          </a:prstGeom>
          <a:noFill/>
        </p:spPr>
        <p:txBody>
          <a:bodyPr wrap="square">
            <a:spAutoFit/>
          </a:bodyPr>
          <a:lstStyle/>
          <a:p>
            <a:pPr algn="l"/>
            <a:r>
              <a:rPr sz="1000" b="0" i="0">
                <a:solidFill>
                  <a:srgbClr val="1A1A1A"/>
                </a:solidFill>
              </a:rPr>
              <a:t>Run:  python chat_results.py  [results_dir]
The script loads all result files automatically and caches them for efficiency.</a:t>
            </a:r>
          </a:p>
        </p:txBody>
      </p:sp>
      <p:sp>
        <p:nvSpPr>
          <p:cNvPr id="22" name="Rectangle 21"/>
          <p:cNvSpPr/>
          <p:nvPr/>
        </p:nvSpPr>
        <p:spPr>
          <a:xfrm>
            <a:off x="384048" y="4727448"/>
            <a:ext cx="475488"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2336" y="4800600"/>
            <a:ext cx="438912" cy="329184"/>
          </a:xfrm>
          <a:prstGeom prst="rect">
            <a:avLst/>
          </a:prstGeom>
          <a:noFill/>
        </p:spPr>
        <p:txBody>
          <a:bodyPr wrap="square">
            <a:spAutoFit/>
          </a:bodyPr>
          <a:lstStyle/>
          <a:p>
            <a:pPr algn="ctr"/>
            <a:r>
              <a:rPr sz="1600" b="1" i="0">
                <a:solidFill>
                  <a:srgbClr val="FFFFFF"/>
                </a:solidFill>
              </a:rPr>
              <a:t>4</a:t>
            </a:r>
          </a:p>
        </p:txBody>
      </p:sp>
      <p:sp>
        <p:nvSpPr>
          <p:cNvPr id="24" name="TextBox 23"/>
          <p:cNvSpPr txBox="1"/>
          <p:nvPr/>
        </p:nvSpPr>
        <p:spPr>
          <a:xfrm>
            <a:off x="960120" y="4745736"/>
            <a:ext cx="4526280" cy="237744"/>
          </a:xfrm>
          <a:prstGeom prst="rect">
            <a:avLst/>
          </a:prstGeom>
          <a:noFill/>
        </p:spPr>
        <p:txBody>
          <a:bodyPr wrap="square">
            <a:spAutoFit/>
          </a:bodyPr>
          <a:lstStyle/>
          <a:p>
            <a:pPr algn="l"/>
            <a:r>
              <a:rPr sz="1100" b="1" i="0">
                <a:solidFill>
                  <a:srgbClr val="1A375E"/>
                </a:solidFill>
              </a:rPr>
              <a:t>Ask questions</a:t>
            </a:r>
          </a:p>
        </p:txBody>
      </p:sp>
      <p:sp>
        <p:nvSpPr>
          <p:cNvPr id="25" name="TextBox 24"/>
          <p:cNvSpPr txBox="1"/>
          <p:nvPr/>
        </p:nvSpPr>
        <p:spPr>
          <a:xfrm>
            <a:off x="960120" y="4974336"/>
            <a:ext cx="4526280" cy="548640"/>
          </a:xfrm>
          <a:prstGeom prst="rect">
            <a:avLst/>
          </a:prstGeom>
          <a:noFill/>
        </p:spPr>
        <p:txBody>
          <a:bodyPr wrap="square">
            <a:spAutoFit/>
          </a:bodyPr>
          <a:lstStyle/>
          <a:p>
            <a:pPr algn="l"/>
            <a:r>
              <a:rPr sz="1000" b="0" i="0">
                <a:solidFill>
                  <a:srgbClr val="1A1A1A"/>
                </a:solidFill>
              </a:rPr>
              <a:t>Type any question about your data. The chat maintains conversation history so you can ask follow-ups.</a:t>
            </a:r>
          </a:p>
        </p:txBody>
      </p:sp>
      <p:sp>
        <p:nvSpPr>
          <p:cNvPr id="26" name="Rectangle 25"/>
          <p:cNvSpPr/>
          <p:nvPr/>
        </p:nvSpPr>
        <p:spPr>
          <a:xfrm>
            <a:off x="384048" y="5577840"/>
            <a:ext cx="475488" cy="47548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2336" y="5650992"/>
            <a:ext cx="438912" cy="329184"/>
          </a:xfrm>
          <a:prstGeom prst="rect">
            <a:avLst/>
          </a:prstGeom>
          <a:noFill/>
        </p:spPr>
        <p:txBody>
          <a:bodyPr wrap="square">
            <a:spAutoFit/>
          </a:bodyPr>
          <a:lstStyle/>
          <a:p>
            <a:pPr algn="ctr"/>
            <a:r>
              <a:rPr sz="1600" b="1" i="0">
                <a:solidFill>
                  <a:srgbClr val="FFFFFF"/>
                </a:solidFill>
              </a:rPr>
              <a:t>5</a:t>
            </a:r>
          </a:p>
        </p:txBody>
      </p:sp>
      <p:sp>
        <p:nvSpPr>
          <p:cNvPr id="28" name="TextBox 27"/>
          <p:cNvSpPr txBox="1"/>
          <p:nvPr/>
        </p:nvSpPr>
        <p:spPr>
          <a:xfrm>
            <a:off x="960120" y="5596127"/>
            <a:ext cx="4526280" cy="237744"/>
          </a:xfrm>
          <a:prstGeom prst="rect">
            <a:avLst/>
          </a:prstGeom>
          <a:noFill/>
        </p:spPr>
        <p:txBody>
          <a:bodyPr wrap="square">
            <a:spAutoFit/>
          </a:bodyPr>
          <a:lstStyle/>
          <a:p>
            <a:pPr algn="l"/>
            <a:r>
              <a:rPr sz="1100" b="1" i="0">
                <a:solidFill>
                  <a:srgbClr val="1A375E"/>
                </a:solidFill>
              </a:rPr>
              <a:t>Exit anytime</a:t>
            </a:r>
          </a:p>
        </p:txBody>
      </p:sp>
      <p:sp>
        <p:nvSpPr>
          <p:cNvPr id="29" name="TextBox 28"/>
          <p:cNvSpPr txBox="1"/>
          <p:nvPr/>
        </p:nvSpPr>
        <p:spPr>
          <a:xfrm>
            <a:off x="960120" y="5824727"/>
            <a:ext cx="4526280" cy="548640"/>
          </a:xfrm>
          <a:prstGeom prst="rect">
            <a:avLst/>
          </a:prstGeom>
          <a:noFill/>
        </p:spPr>
        <p:txBody>
          <a:bodyPr wrap="square">
            <a:spAutoFit/>
          </a:bodyPr>
          <a:lstStyle/>
          <a:p>
            <a:pPr algn="l"/>
            <a:r>
              <a:rPr sz="1000" b="0" i="0">
                <a:solidFill>
                  <a:srgbClr val="1A1A1A"/>
                </a:solidFill>
              </a:rPr>
              <a:t>Type quit, exit, or press Ctrl+C to stop.</a:t>
            </a:r>
          </a:p>
        </p:txBody>
      </p:sp>
      <p:sp>
        <p:nvSpPr>
          <p:cNvPr id="30" name="Rectangle 29"/>
          <p:cNvSpPr/>
          <p:nvPr/>
        </p:nvSpPr>
        <p:spPr>
          <a:xfrm>
            <a:off x="5943600" y="1664208"/>
            <a:ext cx="5971032" cy="4782312"/>
          </a:xfrm>
          <a:prstGeom prst="rect">
            <a:avLst/>
          </a:prstGeom>
          <a:solidFill>
            <a:srgbClr val="F0F4F9"/>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26480" y="1737360"/>
            <a:ext cx="5577840" cy="347472"/>
          </a:xfrm>
          <a:prstGeom prst="rect">
            <a:avLst/>
          </a:prstGeom>
          <a:noFill/>
        </p:spPr>
        <p:txBody>
          <a:bodyPr wrap="square">
            <a:spAutoFit/>
          </a:bodyPr>
          <a:lstStyle/>
          <a:p>
            <a:pPr algn="l"/>
            <a:r>
              <a:rPr sz="1500" b="1" i="0">
                <a:solidFill>
                  <a:srgbClr val="1A375E"/>
                </a:solidFill>
              </a:rPr>
              <a:t>Example Conversation</a:t>
            </a:r>
          </a:p>
        </p:txBody>
      </p:sp>
      <p:sp>
        <p:nvSpPr>
          <p:cNvPr id="32" name="Rectangle 31"/>
          <p:cNvSpPr/>
          <p:nvPr/>
        </p:nvSpPr>
        <p:spPr>
          <a:xfrm>
            <a:off x="6035040" y="2194560"/>
            <a:ext cx="5577840" cy="457200"/>
          </a:xfrm>
          <a:prstGeom prst="rect">
            <a:avLst/>
          </a:prstGeom>
          <a:solidFill>
            <a:srgbClr val="2E75B6"/>
          </a:solidFill>
          <a:ln w="6350">
            <a:solidFill>
              <a:srgbClr val="BB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44768" y="2249424"/>
            <a:ext cx="5413248" cy="365760"/>
          </a:xfrm>
          <a:prstGeom prst="rect">
            <a:avLst/>
          </a:prstGeom>
          <a:noFill/>
        </p:spPr>
        <p:txBody>
          <a:bodyPr wrap="square">
            <a:spAutoFit/>
          </a:bodyPr>
          <a:lstStyle/>
          <a:p>
            <a:pPr algn="l"/>
            <a:r>
              <a:rPr sz="1000" b="0" i="0">
                <a:solidFill>
                  <a:srgbClr val="FFFFFF"/>
                </a:solidFill>
              </a:rPr>
              <a:t>You:  Which drug was most potent?</a:t>
            </a:r>
          </a:p>
        </p:txBody>
      </p:sp>
      <p:sp>
        <p:nvSpPr>
          <p:cNvPr id="34" name="Rectangle 33"/>
          <p:cNvSpPr/>
          <p:nvPr/>
        </p:nvSpPr>
        <p:spPr>
          <a:xfrm>
            <a:off x="6035040" y="2743200"/>
            <a:ext cx="5577840" cy="457200"/>
          </a:xfrm>
          <a:prstGeom prst="rect">
            <a:avLst/>
          </a:prstGeom>
          <a:solidFill>
            <a:srgbClr val="E8F1FB"/>
          </a:solidFill>
          <a:ln w="6350">
            <a:solidFill>
              <a:srgbClr val="BB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4768" y="2798064"/>
            <a:ext cx="5413248" cy="365760"/>
          </a:xfrm>
          <a:prstGeom prst="rect">
            <a:avLst/>
          </a:prstGeom>
          <a:noFill/>
        </p:spPr>
        <p:txBody>
          <a:bodyPr wrap="square">
            <a:spAutoFit/>
          </a:bodyPr>
          <a:lstStyle/>
          <a:p>
            <a:pPr algn="l"/>
            <a:r>
              <a:rPr sz="1000" b="0" i="0">
                <a:solidFill>
                  <a:srgbClr val="1A1A1A"/>
                </a:solidFill>
              </a:rPr>
              <a:t>Claude:  Prexasertib — IC₅₀ ≈ 10 nM. That's ~27× more potent than BAY1895344 and ~66× more potent than MK-1775 in MCF7 cells.</a:t>
            </a:r>
          </a:p>
        </p:txBody>
      </p:sp>
      <p:sp>
        <p:nvSpPr>
          <p:cNvPr id="36" name="Rectangle 35"/>
          <p:cNvSpPr/>
          <p:nvPr/>
        </p:nvSpPr>
        <p:spPr>
          <a:xfrm>
            <a:off x="6035040" y="3291840"/>
            <a:ext cx="5577840" cy="457200"/>
          </a:xfrm>
          <a:prstGeom prst="rect">
            <a:avLst/>
          </a:prstGeom>
          <a:solidFill>
            <a:srgbClr val="2E75B6"/>
          </a:solidFill>
          <a:ln w="6350">
            <a:solidFill>
              <a:srgbClr val="BB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44768" y="3346704"/>
            <a:ext cx="5413248" cy="365760"/>
          </a:xfrm>
          <a:prstGeom prst="rect">
            <a:avLst/>
          </a:prstGeom>
          <a:noFill/>
        </p:spPr>
        <p:txBody>
          <a:bodyPr wrap="square">
            <a:spAutoFit/>
          </a:bodyPr>
          <a:lstStyle/>
          <a:p>
            <a:pPr algn="l"/>
            <a:r>
              <a:rPr sz="1000" b="0" i="0">
                <a:solidFill>
                  <a:srgbClr val="FFFFFF"/>
                </a:solidFill>
              </a:rPr>
              <a:t>You:  Is there synergy between MK-1775 and Prexasertib?</a:t>
            </a:r>
          </a:p>
        </p:txBody>
      </p:sp>
      <p:sp>
        <p:nvSpPr>
          <p:cNvPr id="38" name="Rectangle 37"/>
          <p:cNvSpPr/>
          <p:nvPr/>
        </p:nvSpPr>
        <p:spPr>
          <a:xfrm>
            <a:off x="6035040" y="3840479"/>
            <a:ext cx="5577840" cy="640080"/>
          </a:xfrm>
          <a:prstGeom prst="rect">
            <a:avLst/>
          </a:prstGeom>
          <a:solidFill>
            <a:srgbClr val="E8F1FB"/>
          </a:solidFill>
          <a:ln w="6350">
            <a:solidFill>
              <a:srgbClr val="BB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3895343"/>
            <a:ext cx="5413248" cy="548640"/>
          </a:xfrm>
          <a:prstGeom prst="rect">
            <a:avLst/>
          </a:prstGeom>
          <a:noFill/>
        </p:spPr>
        <p:txBody>
          <a:bodyPr wrap="square">
            <a:spAutoFit/>
          </a:bodyPr>
          <a:lstStyle/>
          <a:p>
            <a:pPr algn="l"/>
            <a:r>
              <a:rPr sz="1000" b="0" i="0">
                <a:solidFill>
                  <a:srgbClr val="1A1A1A"/>
                </a:solidFill>
              </a:rPr>
              <a:t>Claude:  Yes — Bliss scores reach +0.56, indicating clear synergy. The strongest effect occurs at mid-range MK-1775 (137–1,235 nM) combined with low Prexasertib doses (1.4–7.1 nM).</a:t>
            </a:r>
          </a:p>
        </p:txBody>
      </p:sp>
      <p:sp>
        <p:nvSpPr>
          <p:cNvPr id="40" name="Rectangle 39"/>
          <p:cNvSpPr/>
          <p:nvPr/>
        </p:nvSpPr>
        <p:spPr>
          <a:xfrm>
            <a:off x="6035040" y="4571999"/>
            <a:ext cx="5577840" cy="457200"/>
          </a:xfrm>
          <a:prstGeom prst="rect">
            <a:avLst/>
          </a:prstGeom>
          <a:solidFill>
            <a:srgbClr val="2E75B6"/>
          </a:solidFill>
          <a:ln w="6350">
            <a:solidFill>
              <a:srgbClr val="BB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44768" y="4626863"/>
            <a:ext cx="5413248" cy="365760"/>
          </a:xfrm>
          <a:prstGeom prst="rect">
            <a:avLst/>
          </a:prstGeom>
          <a:noFill/>
        </p:spPr>
        <p:txBody>
          <a:bodyPr wrap="square">
            <a:spAutoFit/>
          </a:bodyPr>
          <a:lstStyle/>
          <a:p>
            <a:pPr algn="l"/>
            <a:r>
              <a:rPr sz="1000" b="0" i="0">
                <a:solidFill>
                  <a:srgbClr val="FFFFFF"/>
                </a:solidFill>
              </a:rPr>
              <a:t>You:  What does a growth rate &gt; 1 mean in the genetic screen?</a:t>
            </a:r>
          </a:p>
        </p:txBody>
      </p:sp>
      <p:sp>
        <p:nvSpPr>
          <p:cNvPr id="42" name="Rectangle 41"/>
          <p:cNvSpPr/>
          <p:nvPr/>
        </p:nvSpPr>
        <p:spPr>
          <a:xfrm>
            <a:off x="6035040" y="5120639"/>
            <a:ext cx="5577840" cy="640080"/>
          </a:xfrm>
          <a:prstGeom prst="rect">
            <a:avLst/>
          </a:prstGeom>
          <a:solidFill>
            <a:srgbClr val="E8F1FB"/>
          </a:solidFill>
          <a:ln w="6350">
            <a:solidFill>
              <a:srgbClr val="BB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44768" y="5175503"/>
            <a:ext cx="5413248" cy="548640"/>
          </a:xfrm>
          <a:prstGeom prst="rect">
            <a:avLst/>
          </a:prstGeom>
          <a:noFill/>
        </p:spPr>
        <p:txBody>
          <a:bodyPr wrap="square">
            <a:spAutoFit/>
          </a:bodyPr>
          <a:lstStyle/>
          <a:p>
            <a:pPr algn="l"/>
            <a:r>
              <a:rPr sz="1000" b="0" i="0">
                <a:solidFill>
                  <a:srgbClr val="1A1A1A"/>
                </a:solidFill>
              </a:rPr>
              <a:t>Claude:  A growth rate &gt; 1 means those cells grew faster than the control. This could indicate the knockdown silenced a growth-suppressing gene, effectively releasing a brake on proliferation.</a:t>
            </a:r>
          </a:p>
        </p:txBody>
      </p:sp>
      <p:sp>
        <p:nvSpPr>
          <p:cNvPr id="44" name="Rectangle 43"/>
          <p:cNvSpPr/>
          <p:nvPr/>
        </p:nvSpPr>
        <p:spPr>
          <a:xfrm>
            <a:off x="274320" y="6473952"/>
            <a:ext cx="11640312" cy="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74320" y="6291072"/>
            <a:ext cx="1164031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5760" y="6309360"/>
            <a:ext cx="11430000" cy="164592"/>
          </a:xfrm>
          <a:prstGeom prst="rect">
            <a:avLst/>
          </a:prstGeom>
          <a:noFill/>
        </p:spPr>
        <p:txBody>
          <a:bodyPr wrap="square">
            <a:spAutoFit/>
          </a:bodyPr>
          <a:lstStyle/>
          <a:p>
            <a:pPr algn="l"/>
            <a:r>
              <a:rPr sz="900" b="1" i="0">
                <a:solidFill>
                  <a:srgbClr val="BDD7EE"/>
                </a:solidFill>
              </a:rPr>
              <a:t>Model: claude-opus-4-7  ·  Streaming responses  ·  Prompt caching (cost-efficient)  ·  Full conversation history  ·  Works with any HTSplotter output folder  ·  github.com/aaronwils246/HTSplotter-chat</a:t>
            </a:r>
          </a:p>
        </p:txBody>
      </p:sp>
      <p:sp>
        <p:nvSpPr>
          <p:cNvPr id="47" name="Rectangle 46"/>
          <p:cNvSpPr/>
          <p:nvPr/>
        </p:nvSpPr>
        <p:spPr>
          <a:xfrm>
            <a:off x="0" y="6656832"/>
            <a:ext cx="12188952" cy="201168"/>
          </a:xfrm>
          <a:prstGeom prst="rect">
            <a:avLst/>
          </a:prstGeom>
          <a:solidFill>
            <a:srgbClr val="1A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0" y="6675120"/>
            <a:ext cx="1554480" cy="182880"/>
          </a:xfrm>
          <a:prstGeom prst="rect">
            <a:avLst/>
          </a:prstGeom>
          <a:noFill/>
        </p:spPr>
        <p:txBody>
          <a:bodyPr wrap="square">
            <a:spAutoFit/>
          </a:bodyPr>
          <a:lstStyle/>
          <a:p>
            <a:pPr algn="r"/>
            <a:r>
              <a:rPr sz="900" b="0" i="0">
                <a:solidFill>
                  <a:srgbClr val="FFFFFF"/>
                </a:solidFill>
              </a:rPr>
              <a:t>Slide 7 of 7</a:t>
            </a:r>
          </a:p>
        </p:txBody>
      </p:sp>
      <p:sp>
        <p:nvSpPr>
          <p:cNvPr id="49" name="TextBox 48"/>
          <p:cNvSpPr txBox="1"/>
          <p:nvPr/>
        </p:nvSpPr>
        <p:spPr>
          <a:xfrm>
            <a:off x="228600" y="6675120"/>
            <a:ext cx="9144000" cy="182880"/>
          </a:xfrm>
          <a:prstGeom prst="rect">
            <a:avLst/>
          </a:prstGeom>
          <a:noFill/>
        </p:spPr>
        <p:txBody>
          <a:bodyPr wrap="square">
            <a:spAutoFit/>
          </a:bodyPr>
          <a:lstStyle/>
          <a:p>
            <a:pPr algn="l"/>
            <a:r>
              <a:rPr sz="900" b="0" i="0">
                <a:solidFill>
                  <a:srgbClr val="BDD7EE"/>
                </a:solidFill>
              </a:rPr>
              <a:t>HTSplotter  |  Nunes et al., PLoS One 2024  |  DOI: 10.1371/journal.pone.0296322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