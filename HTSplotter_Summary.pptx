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HTSplotter 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DD7EE"/>
                </a:solidFill>
              </a:rPr>
              <a:t>All Example Datasets  |  MCF7 Cells  |  Confluency Readout  |  + AI Chat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445752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423160"/>
            <a:ext cx="7223760" cy="33832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68580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DD7EE"/>
                </a:solidFill>
              </a:rPr>
              <a:t>About HTSplotter</a:t>
            </a:r>
          </a:p>
          <a:p>
            <a:pPr algn="l">
              <a:spcBef>
                <a:spcPts val="800"/>
              </a:spcBef>
            </a:pPr>
            <a:r>
              <a:rPr sz="1200" b="0" i="0">
                <a:solidFill>
                  <a:srgbClr val="FFFFFF"/>
                </a:solidFill>
              </a:rPr>
              <a:t>HTSplotter is an open-source Python tool for end-to-end processing, analysis, and visualisation of chemical and genetic in vitro perturbation screens. It automates dose-response fitting, IC value calculation, and synergy scoring (Bliss, HSA, ZIP) across four experiment types: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E75B6"/>
                </a:solidFill>
              </a:rPr>
              <a:t>  ●  Drug screen: </a:t>
            </a:r>
            <a:r>
              <a:rPr sz="1100">
                <a:solidFill>
                  <a:srgbClr val="FFFFFF"/>
                </a:solidFill>
              </a:rPr>
              <a:t>Single-agent dose-response, IC values, growth rates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E75B6"/>
                </a:solidFill>
              </a:rPr>
              <a:t>  ●  Drug combination: </a:t>
            </a:r>
            <a:r>
              <a:rPr sz="1100">
                <a:solidFill>
                  <a:srgbClr val="FFFFFF"/>
                </a:solidFill>
              </a:rPr>
              <a:t>Synergy scoring (Bliss/HSA/ZIP) over 7×7 dose matrices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E75B6"/>
                </a:solidFill>
              </a:rPr>
              <a:t>  ●  Genetic perturbagen: </a:t>
            </a:r>
            <a:r>
              <a:rPr sz="1100">
                <a:solidFill>
                  <a:srgbClr val="FFFFFF"/>
                </a:solidFill>
              </a:rPr>
              <a:t>siRNA/shRNA screen, normalised confluency + growth rates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2E75B6"/>
                </a:solidFill>
              </a:rPr>
              <a:t>  ●  Genetic-chemical: </a:t>
            </a:r>
            <a:r>
              <a:rPr sz="1100">
                <a:solidFill>
                  <a:srgbClr val="FFFFFF"/>
                </a:solidFill>
              </a:rPr>
              <a:t>Combined gene-knockdown + drug treatment</a:t>
            </a:r>
          </a:p>
          <a:p>
            <a:pPr algn="l">
              <a:spcBef>
                <a:spcPts val="1000"/>
              </a:spcBef>
            </a:pPr>
            <a:r>
              <a:rPr sz="1100" b="0" i="0">
                <a:solidFill>
                  <a:srgbClr val="BDD7EE"/>
                </a:solidFill>
              </a:rPr>
              <a:t>●  Web tool: htsplotter.cmgg.be
●  GitHub: github.com/CBIGR/HTSplotter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423160"/>
            <a:ext cx="4069080" cy="33832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468880"/>
            <a:ext cx="374903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DD7EE"/>
                </a:solidFill>
              </a:rPr>
              <a:t>Citation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FFFFF"/>
                </a:solidFill>
              </a:rPr>
              <a:t>Nunes C, Anckaert J, De Vloed F, De Wyn J, Durinck K, Vandesompele J, Speleman F, Vermeirssen V.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FFFFFF"/>
                </a:solidFill>
              </a:rPr>
              <a:t>HTSplotter: An end-to-end data processing, analysis and visualisation tool for chemical and genetic in vitro perturbation screening.</a:t>
            </a:r>
          </a:p>
          <a:p>
            <a:pPr algn="l">
              <a:spcBef>
                <a:spcPts val="600"/>
              </a:spcBef>
            </a:pPr>
            <a:r>
              <a:rPr sz="1100" b="0" i="1">
                <a:solidFill>
                  <a:srgbClr val="BDD7EE"/>
                </a:solidFill>
              </a:rPr>
              <a:t>PLoS One. 2024;19(1):e0296322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BDD7EE"/>
                </a:solidFill>
              </a:rPr>
              <a:t>DOI: 10.1371/journal.pone.0296322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BDD7EE"/>
                </a:solidFill>
              </a:rPr>
              <a:t>PMID: 38181013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Drug Screen &amp; Combination Results  —  MCF7 / 72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Single-Agent Dose-Response  (1 time point)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173736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35024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Drug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98448"/>
            <a:ext cx="123444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3502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IC₅₀ (nM)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98448"/>
            <a:ext cx="77724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133502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298448"/>
            <a:ext cx="1188720" cy="347472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335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173736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71907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9637"/>
                </a:solidFill>
              </a:rPr>
              <a:t>Prexasertib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645920"/>
            <a:ext cx="12344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6544" y="171907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9.98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645920"/>
            <a:ext cx="7772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0984" y="17190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0.967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1645920"/>
            <a:ext cx="118872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8224" y="17190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7373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222199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BAY1895344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148840"/>
            <a:ext cx="12344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222199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272.87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148840"/>
            <a:ext cx="7772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00984" y="222199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0.957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148840"/>
            <a:ext cx="118872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4" y="22219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2724912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MK-1775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651760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66544" y="272491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657.30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651760"/>
            <a:ext cx="777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0984" y="272491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0.989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2651760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2724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Excellent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1673352"/>
            <a:ext cx="1371600" cy="347472"/>
          </a:xfrm>
          <a:prstGeom prst="rect">
            <a:avLst/>
          </a:prstGeom>
          <a:solidFill>
            <a:srgbClr val="37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0288" y="1691640"/>
            <a:ext cx="1335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★ Most Potent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200400"/>
            <a:ext cx="5212080" cy="502920"/>
          </a:xfrm>
          <a:prstGeom prst="rect">
            <a:avLst/>
          </a:prstGeom>
          <a:solidFill>
            <a:srgbClr val="EFF4FB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5E"/>
                </a:solidFill>
              </a:rPr>
              <a:t>📈  Multi-timepoint datasets (37 time points, 74 h) also analysed — IC values and growth rates computed at each time point, showing potency increases over time for all three drugs.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94760"/>
            <a:ext cx="5212080" cy="2560320"/>
          </a:xfrm>
          <a:prstGeom prst="rect">
            <a:avLst/>
          </a:prstGeom>
          <a:solidFill>
            <a:srgbClr val="F5F9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Key Takeaways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33672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1A"/>
                </a:solidFill>
              </a:rPr>
              <a:t>▶  Prexasertib is ~27× more potent than BAY1895344 and ~66× more potent than MK-1775 in MCF7 cells.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1A"/>
                </a:solidFill>
              </a:rPr>
              <a:t>▶  Prexasertib's curve plateaus at ~40–50% inhibition — did not reach full inhibition across the tested range.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1A"/>
                </a:solidFill>
              </a:rPr>
              <a:t>▶  MK-1775 has the best curve fit (R² = 0.989), indicating a clean sigmoidal dose-response.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1A"/>
                </a:solidFill>
              </a:rPr>
              <a:t>▶  Growth rate analysis (multi-timepoint) confirms sustained inhibition with increasing effect over 74 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9144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5E"/>
                </a:solidFill>
              </a:rPr>
              <a:t>Drug Combination Synergy  —  Bliss 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1298448"/>
            <a:ext cx="6035040" cy="1737360"/>
          </a:xfrm>
          <a:prstGeom prst="rect">
            <a:avLst/>
          </a:prstGeom>
          <a:solidFill>
            <a:srgbClr val="E2EFDA"/>
          </a:solidFill>
          <a:ln w="12700">
            <a:solidFill>
              <a:srgbClr val="37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1371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MK-1775  +  Prexasertib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1371600"/>
            <a:ext cx="1371600" cy="320040"/>
          </a:xfrm>
          <a:prstGeom prst="rect">
            <a:avLst/>
          </a:prstGeom>
          <a:solidFill>
            <a:srgbClr val="37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41864" y="1389888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SYNERGISTIC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773936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Max Bliss: +0.56  (MK-1775 1235 nM + Prexasertib 4.7 nM)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Strong synergy at mid-range MK-1775 (137–1235 nM) with low Prexasertib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Effect diminishes at saturating MK-1775 doses — ceiling effect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246120"/>
            <a:ext cx="6035040" cy="1737360"/>
          </a:xfrm>
          <a:prstGeom prst="rect">
            <a:avLst/>
          </a:prstGeom>
          <a:solidFill>
            <a:srgbClr val="FFF3E8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3319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MK-1775  +  BAY1895344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3319272"/>
            <a:ext cx="1371600" cy="3200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41864" y="3337560"/>
            <a:ext cx="1353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WEAK / ADDITIVE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3721608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Max Bliss: +0.42  (MK-1775 137 nM + BAY1895344 167 nM)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Most scores near zero — interaction is largely additive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No consistent synergy pattern across the 7×7 matrix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5074920"/>
            <a:ext cx="603504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51206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5E"/>
                </a:solidFill>
              </a:rPr>
              <a:t>Bliss Score Key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5422392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9637"/>
                </a:solidFill>
              </a:rPr>
              <a:t>&gt; 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42239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Synergy — exceeds expected additive effect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5696712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=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569671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Additivity — drugs act independently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5971031"/>
            <a:ext cx="640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A11"/>
                </a:solidFill>
              </a:rPr>
              <a:t>&lt; 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37960" y="5971031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Antagonism — weaker than predicted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15600" y="66751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Genetic Perturbagen Screens &amp; AI-Assisted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577840" cy="5349240"/>
          </a:xfrm>
          <a:prstGeom prst="rect">
            <a:avLst/>
          </a:prstGeom>
          <a:solidFill>
            <a:srgbClr val="F5F9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Genetic Perturbagen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212080" cy="1508760"/>
          </a:xfrm>
          <a:prstGeom prst="rect">
            <a:avLst/>
          </a:prstGeom>
          <a:solidFill>
            <a:srgbClr val="F0F7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1 Time Point  |  1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81328"/>
            <a:ext cx="1143000" cy="274320"/>
          </a:xfrm>
          <a:prstGeom prst="rect">
            <a:avLst/>
          </a:prstGeom>
          <a:solidFill>
            <a:srgbClr val="1F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264" y="1490472"/>
            <a:ext cx="11247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9377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Multiple siRNA/shRNA gene perturbagens tested at 40 ng/well in MCF7 cells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Normalised confluency computed per perturbagen relative to control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Single endpoint readout (48 h) — no dose-response, binary knockdown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99232"/>
            <a:ext cx="5212080" cy="1874519"/>
          </a:xfrm>
          <a:prstGeom prst="rect">
            <a:avLst/>
          </a:prstGeom>
          <a:solidFill>
            <a:srgbClr val="F0F7FF"/>
          </a:solidFill>
          <a:ln w="1016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5E"/>
                </a:solidFill>
              </a:rPr>
              <a:t>Several Time Points  |  Multiple Controls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063240"/>
            <a:ext cx="1143000" cy="274320"/>
          </a:xfrm>
          <a:prstGeom prst="rect">
            <a:avLst/>
          </a:prstGeom>
          <a:solidFill>
            <a:srgbClr val="1F8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3072384"/>
            <a:ext cx="11247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23 time points over ~69 h (3 h intervals) with multiple control groups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Growth rate computed at each time point for every perturbagen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Growth rate ratios close to 1.0 = no effect; &lt;1 = inhibition; &gt;1 = enhanced growth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1A"/>
                </a:solidFill>
              </a:rPr>
              <a:t>•  Allows identification of perturbagens with time-dependent effects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956048"/>
            <a:ext cx="5212080" cy="1143000"/>
          </a:xfrm>
          <a:prstGeom prst="rect">
            <a:avLst/>
          </a:prstGeom>
          <a:solidFill>
            <a:srgbClr val="FFF8E1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109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</a:rPr>
              <a:t>⚠  Genetic-Chemical Perturbagen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21808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Example datasets encountered a known HTSplotter compatibility issue with unequal cell-line condition counts. All other experiment types (drug, drug combination, genetic) ran successfully.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914400"/>
            <a:ext cx="5715000" cy="5349240"/>
          </a:xfrm>
          <a:prstGeom prst="rect">
            <a:avLst/>
          </a:prstGeom>
          <a:solidFill>
            <a:srgbClr val="F0F4F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987552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5E"/>
                </a:solidFill>
              </a:rPr>
              <a:t>🤖  AI-Assisted Results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426464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An interactive chat interface built on top of HTSplotter using the Anthropic Claude API. After any analysis, researchers can ask plain-English questions about their results — IC values, synergy, curve fit, or biological context.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95728"/>
            <a:ext cx="5303520" cy="475488"/>
          </a:xfrm>
          <a:prstGeom prst="rect">
            <a:avLst/>
          </a:prstGeom>
          <a:solidFill>
            <a:srgbClr val="2E75B6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45059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 Which drug was most potent?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44368"/>
            <a:ext cx="5303520" cy="475488"/>
          </a:xfrm>
          <a:prstGeom prst="rect">
            <a:avLst/>
          </a:prstGeom>
          <a:solidFill>
            <a:srgbClr val="E8F1FB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99923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Claude:  Prexasertib — IC₅₀ ≈ 10 nM, ~66× more potent than MK-1775.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93008"/>
            <a:ext cx="5303520" cy="475488"/>
          </a:xfrm>
          <a:prstGeom prst="rect">
            <a:avLst/>
          </a:prstGeom>
          <a:solidFill>
            <a:srgbClr val="2E75B6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47872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 Is there synergy between MK-1775 and Prexasertib?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041648"/>
            <a:ext cx="5303520" cy="475488"/>
          </a:xfrm>
          <a:prstGeom prst="rect">
            <a:avLst/>
          </a:prstGeom>
          <a:solidFill>
            <a:srgbClr val="E8F1FB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096511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Claude:  Yes — Bliss scores up to +0.56. Strongest at mid-range
MK-1775 doses combined with low Prexasertib.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663440"/>
            <a:ext cx="5303520" cy="475488"/>
          </a:xfrm>
          <a:prstGeom prst="rect">
            <a:avLst/>
          </a:prstGeom>
          <a:solidFill>
            <a:srgbClr val="2E75B6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18303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You:  What does a growth rate &gt; 1 mean in the genetic screen?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212080"/>
            <a:ext cx="5303520" cy="475488"/>
          </a:xfrm>
          <a:prstGeom prst="rect">
            <a:avLst/>
          </a:prstGeom>
          <a:solidFill>
            <a:srgbClr val="E8F1FB"/>
          </a:solidFill>
          <a:ln w="635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266944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Claude:  Growth rate &gt; 1 means cells grew faster than control —
a perturbagen may be releasing a growth brake.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852160"/>
            <a:ext cx="5577840" cy="320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87044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DD7EE"/>
                </a:solidFill>
              </a:rPr>
              <a:t>github.com/aaronwils246/HTSplotter-chat  |  python chat_results.py  [results_dir]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66751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