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HTSplotter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DD7EE"/>
                </a:solidFill>
              </a:rPr>
              <a:t>High-Throughput Screening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286000"/>
            <a:ext cx="8531352" cy="45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8BBE0"/>
                </a:solidFill>
              </a:rPr>
              <a:t>All Example Datasets  ·  MCF7 Cells  ·  Confluency Readout  ·  AI Chat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80360"/>
            <a:ext cx="6949440" cy="35204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880360"/>
            <a:ext cx="64008" cy="3520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65836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DD7EE"/>
                </a:solidFill>
              </a:rPr>
              <a:t>What is HTSplotter?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</a:rPr>
              <a:t>HTSplotter is an open-source Python tool for end-to-end processing, analysis, and visualisation of chemical and genetic in vitro perturbation screens. It automatically identifies the experiment type, normalises data, fits dose-response curves, calculates IC values, and scores drug synergy.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BDD7EE"/>
                </a:solidFill>
              </a:rPr>
              <a:t>Supports four experiment types: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Drug screen  —  IC values, dose-response curves, growth rates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Drug combination  —  Bliss / HSA / ZIP synergy scoring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Genetic perturbagen  —  siRNA/shRNA normalised activity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FFFFFF"/>
                </a:solidFill>
              </a:rPr>
              <a:t>     ●  Genetic-chemical  —  gene-knockdown + drug interaction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88BBE0"/>
                </a:solidFill>
              </a:rPr>
              <a:t>Web tool: htsplotter.cmgg.be  ·  GitHub: github.com/CBIGR/HTSplotter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2880360"/>
            <a:ext cx="4160520" cy="35204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880360"/>
            <a:ext cx="64008" cy="3520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71800"/>
            <a:ext cx="384048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DD7EE"/>
                </a:solidFill>
              </a:rPr>
              <a:t>Citation</a:t>
            </a:r>
          </a:p>
          <a:p>
            <a:pPr algn="l">
              <a:spcBef>
                <a:spcPts val="1200"/>
              </a:spcBef>
            </a:pPr>
            <a:r>
              <a:rPr sz="1100" b="0" i="0">
                <a:solidFill>
                  <a:srgbClr val="FFFFFF"/>
                </a:solidFill>
              </a:rPr>
              <a:t>Nunes C, Anckaert J, De Vloed F, De Wyn J, Durinck K, Vandesompele J, Speleman F, Vermeirssen V.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FFFFF"/>
                </a:solidFill>
              </a:rPr>
              <a:t>HTSplotter: An end-to-end data processing, analysis and visualisation tool for chemical and genetic in vitro perturbation screening.</a:t>
            </a:r>
          </a:p>
          <a:p>
            <a:pPr algn="l">
              <a:spcBef>
                <a:spcPts val="800"/>
              </a:spcBef>
            </a:pPr>
            <a:r>
              <a:rPr sz="1100" b="0" i="1">
                <a:solidFill>
                  <a:srgbClr val="BDD7EE"/>
                </a:solidFill>
              </a:rPr>
              <a:t>PLoS One. 2024;19(1):e0296322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BDD7EE"/>
                </a:solidFill>
              </a:rPr>
              <a:t>DOI: 10.1371/journal.pone.0296322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BDD7EE"/>
                </a:solidFill>
              </a:rPr>
              <a:t>PMID: 38181013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1 of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4 Experiment Types Supported by HTSplotter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Each type auto-detected from input file header — no manual configuration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669280" cy="2743200"/>
          </a:xfrm>
          <a:prstGeom prst="rect">
            <a:avLst/>
          </a:prstGeom>
          <a:solidFill>
            <a:srgbClr val="EFF4FB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024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💊  Drug Screen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4241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05156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Tests a single drug across a concentration range to determine potency.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Outputs: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Dose-response curves (sigmoidal fit)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IC₂₅ / IC₅₀ / IC₇₅ values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R² and curve fit statistics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over time (multi-TP)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Datasets run: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1488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 (72 h endpoint)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37 time points (2 h interval, 74 h total) × 2 variants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960120"/>
            <a:ext cx="5669280" cy="2743200"/>
          </a:xfrm>
          <a:prstGeom prst="rect">
            <a:avLst/>
          </a:prstGeom>
          <a:solidFill>
            <a:srgbClr val="F3EEFA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960120"/>
            <a:ext cx="5669280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0241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🔬  Drug Combination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95559" y="104241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13848" y="105156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Tests two drugs in a 7×7 dose matrix to identify synergy or antagonism.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30A0"/>
                </a:solidFill>
              </a:rPr>
              <a:t>Outputs: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Bliss / HSA / ZIP synergy scores per dose pair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Predicted vs. observed effect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Dose-response for each drug alone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Synergy heatmaps (PDF)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30A0"/>
                </a:solidFill>
              </a:rPr>
              <a:t>Datasets run: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14884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37 time points × 2 variants (incl. repetitive conditions)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5669280" cy="2743200"/>
          </a:xfrm>
          <a:prstGeom prst="rect">
            <a:avLst/>
          </a:prstGeom>
          <a:solidFill>
            <a:srgbClr val="EAF5EA"/>
          </a:solidFill>
          <a:ln w="1905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840480"/>
            <a:ext cx="5669280" cy="457200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3904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🧬  Genetic Perturbagen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922776"/>
            <a:ext cx="1600200" cy="274320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393192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43616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Screens siRNA / shRNA knockdowns to identify genes affecting cell growth.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Outputs: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" y="502920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confluency per perturbagen vs.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 at each time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Multiple control group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Datasets run: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029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point, 1 control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23 time points, multiple controls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840480"/>
            <a:ext cx="5669280" cy="2743200"/>
          </a:xfrm>
          <a:prstGeom prst="rect">
            <a:avLst/>
          </a:prstGeom>
          <a:solidFill>
            <a:srgbClr val="FFF3E8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3840480"/>
            <a:ext cx="5669280" cy="45720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904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⚗️  Genetic-Chemical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95559" y="3922776"/>
            <a:ext cx="1600200" cy="27432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3848" y="3931920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3616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Combines gene knockdown with drug treatment to test gene–drug interactions.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Outputs: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02920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Normalised activity per gene/drug condition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Synergy scoring between genetic and chemical perturbagens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Growth rates for combined conditions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Datasets run: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0292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1 time point (53 TP)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•  Several time points (53 TP)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2 of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Drug Screen Results — Single Agent Dose-Response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MK-1775, BAY1895344, Prexasertib  ·  MCF7 cells  ·  10K/well  ·  72 h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92024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9509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Drug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914400"/>
            <a:ext cx="13716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67712" y="95097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IC₅₀ (nM)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2736" y="914400"/>
            <a:ext cx="82296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95097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4" y="914400"/>
            <a:ext cx="9144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95097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76672" y="914400"/>
            <a:ext cx="2286000" cy="38404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1536" y="95097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298448"/>
            <a:ext cx="192024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135331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9637"/>
                </a:solidFill>
              </a:rPr>
              <a:t>Prexasertib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1298448"/>
            <a:ext cx="13716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76856" y="135331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9.98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2736" y="1298448"/>
            <a:ext cx="82296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135331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1298448"/>
            <a:ext cx="9144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7992" y="135331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Good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76672" y="1298448"/>
            <a:ext cx="2286000" cy="566928"/>
          </a:xfrm>
          <a:prstGeom prst="rect">
            <a:avLst/>
          </a:prstGeom>
          <a:solidFill>
            <a:srgbClr val="E2EF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135331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Curve plateaus at ~40–50%
— partial inhibition in tested 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892807"/>
            <a:ext cx="192024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194767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BAY1895344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1892807"/>
            <a:ext cx="13716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76856" y="194767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272.87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2736" y="1892807"/>
            <a:ext cx="82296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194767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0.957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1892807"/>
            <a:ext cx="9144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194767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Good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76672" y="1892807"/>
            <a:ext cx="2286000" cy="56692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40680" y="19476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Full inhibition achieved
at high concentrations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487168"/>
            <a:ext cx="1920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MK-1775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12848" y="2487168"/>
            <a:ext cx="1371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76856" y="2542032"/>
            <a:ext cx="1261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</a:rPr>
              <a:t>657.30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2736" y="2487168"/>
            <a:ext cx="8229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542032"/>
            <a:ext cx="713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0.989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43984" y="2487168"/>
            <a:ext cx="9144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2542032"/>
            <a:ext cx="804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Excellent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76672" y="2487168"/>
            <a:ext cx="2286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0680" y="254203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Cleanest sigmoidal fit;
highest R² of the three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6679" y="1298448"/>
            <a:ext cx="1280160" cy="384048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44968" y="1316736"/>
            <a:ext cx="1243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★  Most Potent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154680"/>
            <a:ext cx="7406640" cy="3246120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218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Key Findings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611880"/>
            <a:ext cx="7040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Prexasertib is the most potent agent — IC₅₀ ≈ 10 nM, roughly 27× more potent than BAY1895344 and 66× more potent than MK-1775.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Prexasertib's dose-response curve did not reach complete inhibition (plateaus at ~40–50%), suggesting a cytostatic rather than cytotoxic effect at the concentrations tested.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MK-1775 produced the cleanest curve fit (R² = 0.989), indicating a reliable, well-defined sigmoidal dose-response relationship.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Multi-timepoint analysis (37 time points, 74 h) confirmed that potency increases over time for all three drugs, as captured by the growth rate metric.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▶  Single biological replicate — results should be interpreted with caution and validated with additional replicates.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21868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Relative Potency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9637"/>
                </a:solidFill>
              </a:rPr>
              <a:t>Prexasertib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3913632"/>
            <a:ext cx="56922" cy="347472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93914" y="39410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IC₅₀ = 9.98 nM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BAY1895344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4873752"/>
            <a:ext cx="1556367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93359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IC₅₀ = 272.87 nM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5532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MK-1775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5833872"/>
            <a:ext cx="3749039" cy="3474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86032" y="58613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75E"/>
                </a:solidFill>
              </a:rPr>
              <a:t>IC₅₀ = 657.3 nM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3 of 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Drug Combination Synergy — Bliss Independence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MK-1775 combined with Prexasertib and BAY1895344  ·  MCF7 cells  ·  7×7 dose matrix  ·  72 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12880" cy="502920"/>
          </a:xfrm>
          <a:prstGeom prst="rect">
            <a:avLst/>
          </a:prstGeom>
          <a:solidFill>
            <a:srgbClr val="EFF4FB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9264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375E"/>
                </a:solidFill>
              </a:rPr>
              <a:t>Bliss independence assumes the two drugs act independently. A Bliss score &gt; 0 means the combination is more effective than predicted (synergy); &lt; 0 means less effective (antagonism); ≈ 0 means additive.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2331720"/>
          </a:xfrm>
          <a:prstGeom prst="rect">
            <a:avLst/>
          </a:prstGeom>
          <a:solidFill>
            <a:srgbClr val="E8F5E9"/>
          </a:solidFill>
          <a:ln w="1905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612880" cy="438912"/>
          </a:xfrm>
          <a:prstGeom prst="rect">
            <a:avLst/>
          </a:prstGeom>
          <a:solidFill>
            <a:srgbClr val="37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MK-1775  +  Prexasertib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1572768"/>
            <a:ext cx="2834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581912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79637"/>
                </a:solidFill>
              </a:rPr>
              <a:t>SYNERGISTIC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29967"/>
            <a:ext cx="6858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Max Bliss score: +0.56  (MK-1775 1,235 nM + Prexasertib 4.7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Strong synergy across mid-range MK-1775 (137–1,235 nM) combined with low-dose Prexasertib (1.4–7.1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Synergy diminishes at saturating MK-1775 concentrations (≥11,111 nM) — ceiling effect as single agent effect dominates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Pattern consistent across both 1-timepoint and multi-timepoint datasets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011680"/>
            <a:ext cx="4343400" cy="1719072"/>
          </a:xfrm>
          <a:prstGeom prst="rect">
            <a:avLst/>
          </a:prstGeom>
          <a:solidFill>
            <a:srgbClr val="FFFFFF"/>
          </a:solidFill>
          <a:ln w="10160">
            <a:solidFill>
              <a:srgbClr val="37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0574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350008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These two checkpoint kinase inhibitors (WEE1 + CHK1/2) show clear synergy at clinically relevant dose combinations, supporting their combined use in MCF7 cells.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023360"/>
            <a:ext cx="11612880" cy="2331720"/>
          </a:xfrm>
          <a:prstGeom prst="rect">
            <a:avLst/>
          </a:prstGeom>
          <a:solidFill>
            <a:srgbClr val="FFF8F0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023360"/>
            <a:ext cx="11612880" cy="438912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873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MK-1775  +  BAY1895344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4087368"/>
            <a:ext cx="28346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4096512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55A11"/>
                </a:solidFill>
              </a:rPr>
              <a:t>WEAK / ADDITIVE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6858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Max Bliss score: +0.42  (MK-1775 137 nM + BAY1895344 167 nM)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Majority of scores near zero — interaction is largely additive across the matrix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Occasional moderate synergy at specific dose pairs but no consistent pattern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Both 1-timepoint and multi-timepoint datasets show similar additive behaviour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526280"/>
            <a:ext cx="4343400" cy="1719072"/>
          </a:xfrm>
          <a:prstGeom prst="rect">
            <a:avLst/>
          </a:prstGeom>
          <a:solidFill>
            <a:srgbClr val="FFFFFF"/>
          </a:solidFill>
          <a:ln w="1016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45720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Interpretation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864608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MK-1775 (WEE1i) and BAY1895344 (ATRi) do not demonstrate robust synergy in MCF7 cells at the concentrations tested — the combination does not exceed additive expectations.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4 of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Genetic Perturbagen Screen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siRNA/shRNA knockdown screens  ·  MCF7 cells  ·  1 and multi-timepoint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87552"/>
            <a:ext cx="11640312" cy="2633472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87552"/>
            <a:ext cx="11640312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60704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 Time Point  |  1 Control  (48 h endpoint)  —  75 perturbagens screened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1078992"/>
            <a:ext cx="2148840" cy="292608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19488" y="1088136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361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75E"/>
                </a:solidFill>
              </a:rPr>
              <a:t>Gene perturbagens tested at 40 ng/well in MCF7 cells (12K/well). Normalised confluency relative to non-targeting control (100%). Note: gene names are anonymized in the HTSplotter public example dataset.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83664"/>
            <a:ext cx="50292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75 perturbagens screened in a single endpoint confluency assay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Values above 100% = enhanced growth; below 100% = growth inhibition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Identifies candidate genes whose knockdown significantly alters cell proliferation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883664"/>
            <a:ext cx="5989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Notable Hits  (48 h confluency vs. control)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176272"/>
            <a:ext cx="1463040" cy="2743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2203704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176272"/>
            <a:ext cx="1554480" cy="2743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6328" y="2203704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Confluency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23376" y="2176272"/>
            <a:ext cx="2606040" cy="2743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9096" y="2203704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Effect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2450592"/>
            <a:ext cx="1463040" cy="292608"/>
          </a:xfrm>
          <a:prstGeom prst="rect">
            <a:avLst/>
          </a:prstGeom>
          <a:solidFill>
            <a:srgbClr val="E2EFDA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2496312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GeneBK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0608" y="2450592"/>
            <a:ext cx="1554480" cy="292608"/>
          </a:xfrm>
          <a:prstGeom prst="rect">
            <a:avLst/>
          </a:prstGeom>
          <a:solidFill>
            <a:srgbClr val="E2EFDA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96328" y="2496312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79637"/>
                </a:solidFill>
              </a:rPr>
              <a:t>65.2%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23376" y="2450592"/>
            <a:ext cx="2606040" cy="292608"/>
          </a:xfrm>
          <a:prstGeom prst="rect">
            <a:avLst/>
          </a:prstGeom>
          <a:solidFill>
            <a:srgbClr val="E2EFDA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69096" y="2496312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↓ Growth inhibition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2761488"/>
            <a:ext cx="14630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2807208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GeneBI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2761488"/>
            <a:ext cx="15544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96328" y="2807208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79637"/>
                </a:solidFill>
              </a:rPr>
              <a:t>79.1%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23376" y="2761488"/>
            <a:ext cx="26060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9096" y="2807208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↓ Growth inhibition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3072384"/>
            <a:ext cx="1463040" cy="292608"/>
          </a:xfrm>
          <a:prstGeom prst="rect">
            <a:avLst/>
          </a:prstGeom>
          <a:solidFill>
            <a:srgbClr val="E2EFDA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118104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9637"/>
                </a:solidFill>
              </a:rPr>
              <a:t>GeneAG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0608" y="3072384"/>
            <a:ext cx="1554480" cy="292608"/>
          </a:xfrm>
          <a:prstGeom prst="rect">
            <a:avLst/>
          </a:prstGeom>
          <a:solidFill>
            <a:srgbClr val="E2EFDA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96328" y="3118104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79637"/>
                </a:solidFill>
              </a:rPr>
              <a:t>79.9%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23376" y="3072384"/>
            <a:ext cx="2606040" cy="292608"/>
          </a:xfrm>
          <a:prstGeom prst="rect">
            <a:avLst/>
          </a:prstGeom>
          <a:solidFill>
            <a:srgbClr val="E2EFDA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69096" y="3118104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↓ Growth inhibition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0" y="3383280"/>
            <a:ext cx="1463040" cy="292608"/>
          </a:xfrm>
          <a:prstGeom prst="rect">
            <a:avLst/>
          </a:prstGeom>
          <a:solidFill>
            <a:srgbClr val="FFF3E8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3429000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GeneAC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50608" y="3383280"/>
            <a:ext cx="1554480" cy="292608"/>
          </a:xfrm>
          <a:prstGeom prst="rect">
            <a:avLst/>
          </a:prstGeom>
          <a:solidFill>
            <a:srgbClr val="FFF3E8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96328" y="3429000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55A11"/>
                </a:solidFill>
              </a:rPr>
              <a:t>126.1%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23376" y="3383280"/>
            <a:ext cx="2606040" cy="292608"/>
          </a:xfrm>
          <a:prstGeom prst="rect">
            <a:avLst/>
          </a:prstGeom>
          <a:solidFill>
            <a:srgbClr val="FFF3E8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9096" y="3429000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↑ Enhanced growth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694176"/>
            <a:ext cx="14630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15000" y="3739896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GeneX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50608" y="3694176"/>
            <a:ext cx="15544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6328" y="3739896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55A11"/>
                </a:solidFill>
              </a:rPr>
              <a:t>124.5%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23376" y="3694176"/>
            <a:ext cx="26060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69096" y="3739896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↑ Enhanced growth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0" y="4005072"/>
            <a:ext cx="1463040" cy="292608"/>
          </a:xfrm>
          <a:prstGeom prst="rect">
            <a:avLst/>
          </a:prstGeom>
          <a:solidFill>
            <a:srgbClr val="FFF3E8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5000" y="4050792"/>
            <a:ext cx="1389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</a:rPr>
              <a:t>GeneE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50608" y="4005072"/>
            <a:ext cx="1554480" cy="292608"/>
          </a:xfrm>
          <a:prstGeom prst="rect">
            <a:avLst/>
          </a:prstGeom>
          <a:solidFill>
            <a:srgbClr val="FFF3E8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96328" y="4050792"/>
            <a:ext cx="1481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55A11"/>
                </a:solidFill>
              </a:rPr>
              <a:t>124.0%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23376" y="4005072"/>
            <a:ext cx="2606040" cy="292608"/>
          </a:xfrm>
          <a:prstGeom prst="rect">
            <a:avLst/>
          </a:prstGeom>
          <a:solidFill>
            <a:srgbClr val="FFF3E8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69096" y="4050792"/>
            <a:ext cx="25328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↑ Enhanced growth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767328"/>
            <a:ext cx="11640312" cy="2633472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3767328"/>
            <a:ext cx="11640312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840480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Several Time Points  |  Multiple Controls  (23 time points, 3 h intervals, ~69 h total)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01200" y="3858768"/>
            <a:ext cx="2148840" cy="292608"/>
          </a:xfrm>
          <a:prstGeom prst="rect">
            <a:avLst/>
          </a:prstGeom>
          <a:solidFill>
            <a:srgbClr val="1F8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867912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 COMPLETE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31596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75E"/>
                </a:solidFill>
              </a:rPr>
              <a:t>Same perturbagens measured across time, enabling growth kinetics and rate calculations per target.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4663440"/>
            <a:ext cx="77724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Growth rate computed at each time point as a ratio to matched control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Growth rate &gt; 1.0 — cells proliferating faster (possible tumour suppressor knockdown)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Growth rate &lt; 1.0 — cells proliferating slower (growth-promoting gene silenced)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Multiple independent control groups enable robust plate-wide normalisation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•  Time-resolved data reveals whether effects are immediate, delayed, or transient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2480" y="4636008"/>
            <a:ext cx="3337560" cy="1664208"/>
          </a:xfrm>
          <a:prstGeom prst="rect">
            <a:avLst/>
          </a:prstGeom>
          <a:solidFill>
            <a:srgbClr val="FFFFFF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49640" y="468172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</a:rPr>
              <a:t>Interpretation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4974336"/>
            <a:ext cx="31089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Time-course data provides richer biological insight than endpoint alone — a perturbagen with a delayed growth rate change may reflect an indirect or adaptive cellular response.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5 of 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8046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91440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AI-Assisted Results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548640"/>
            <a:ext cx="1170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DD7EE"/>
                </a:solidFill>
              </a:rPr>
              <a:t>Interactive Claude-powered chat interface built on top of HTSplotter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11640312" cy="658368"/>
          </a:xfrm>
          <a:prstGeom prst="rect">
            <a:avLst/>
          </a:prstGeom>
          <a:solidFill>
            <a:srgbClr val="EFF4FB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78408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375E"/>
                </a:solidFill>
              </a:rPr>
              <a:t>After running any HTSplotter analysis, researchers can ask plain-English questions about their results using an AI chat interface powered by the Anthropic Claude API (claude-opus-4-7). No bioinformatics expertise required — just type your question.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64208"/>
            <a:ext cx="5394960" cy="4782312"/>
          </a:xfrm>
          <a:prstGeom prst="rect">
            <a:avLst/>
          </a:prstGeom>
          <a:solidFill>
            <a:srgbClr val="F5F9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176272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2249424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94560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Run HTSplotter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423160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Execute any analysis (drug screen, combination, genetic). Results are saved as .txt files in the output_results/ folder.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026664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3099816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44952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Set your API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3552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Get a free API key from console.anthropic.com. Set it once: export ANTHROPIC_API_KEY='sk-ant-...'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877056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3950208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95344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Launch the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123944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Run:  python chat_results.py  [results_dir]
The script loads all result files automatically and caches them for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727448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4800600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45736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Ask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974336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Type any question about your data. The chat maintains conversation history so you can ask follow-ups.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5577840"/>
            <a:ext cx="475488" cy="4754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5650992"/>
            <a:ext cx="438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596127"/>
            <a:ext cx="4526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Exit anytime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24727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Type quit, exit, or press Ctrl+C to stop.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664208"/>
            <a:ext cx="5971032" cy="4782312"/>
          </a:xfrm>
          <a:prstGeom prst="rect">
            <a:avLst/>
          </a:prstGeom>
          <a:solidFill>
            <a:srgbClr val="F0F4F9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17373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75E"/>
                </a:solidFill>
              </a:rPr>
              <a:t>Example Conversation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557784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2249424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Which drug was most potent?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2743200"/>
            <a:ext cx="557784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2798064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Prexasertib — IC₅₀ ≈ 10 nM. That's ~27× more potent than BAY1895344 and ~66× more potent than MK-1775 in MCF7 cells.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291840"/>
            <a:ext cx="557784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3346704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Is there synergy between MK-1775 and Prexasertib?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3840479"/>
            <a:ext cx="5577840" cy="64008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3895343"/>
            <a:ext cx="54132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Yes — Bliss scores reach +0.56, indicating clear synergy. The strongest effect occurs at mid-range MK-1775 (137–1,235 nM) combined with low Prexasertib doses (1.4–7.1 nM).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4571999"/>
            <a:ext cx="5577840" cy="457200"/>
          </a:xfrm>
          <a:prstGeom prst="rect">
            <a:avLst/>
          </a:prstGeom>
          <a:solidFill>
            <a:srgbClr val="2E75B6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4768" y="4626863"/>
            <a:ext cx="5413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You:  What does a growth rate &gt; 1 mean in the genetic screen?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5120639"/>
            <a:ext cx="5577840" cy="640080"/>
          </a:xfrm>
          <a:prstGeom prst="rect">
            <a:avLst/>
          </a:prstGeom>
          <a:solidFill>
            <a:srgbClr val="E8F1FB"/>
          </a:solidFill>
          <a:ln w="635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175503"/>
            <a:ext cx="54132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Claude:  A growth rate &gt; 1 means those cells grew faster than the control. This could indicate the knockdown silenced a growth-suppressing gene, effectively releasing a brake on proliferation.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6473952"/>
            <a:ext cx="1164031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4320" y="6291072"/>
            <a:ext cx="1164031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30936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D7EE"/>
                </a:solidFill>
              </a:rPr>
              <a:t>Model: claude-opus-4-7  ·  Streaming responses  ·  Prompt caching (cost-efficient)  ·  Full conversation history  ·  Works with any HTSplotter output folder  ·  github.com/aaronwils246/HTSplotter-chat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0" y="66751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Slide 6 of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" y="66751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DD7EE"/>
                </a:solidFill>
              </a:rPr>
              <a:t>HTSplotter  |  Nunes et al., PLoS One 2024  |  DOI: 10.1371/journal.pone.0296322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